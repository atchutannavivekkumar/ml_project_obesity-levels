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Alexandria Bold" charset="1" panose="00000000000000000000"/>
      <p:regular r:id="rId21"/>
    </p:embeddedFont>
    <p:embeddedFont>
      <p:font typeface="Garet" charset="1" panose="00000000000000000000"/>
      <p:regular r:id="rId22"/>
    </p:embeddedFont>
    <p:embeddedFont>
      <p:font typeface="Garet Bold" charset="1" panose="00000000000000000000"/>
      <p:regular r:id="rId23"/>
    </p:embeddedFont>
    <p:embeddedFont>
      <p:font typeface="Alexandria" charset="1" panose="0000000000000000000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9.pn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12.png" Type="http://schemas.openxmlformats.org/officeDocument/2006/relationships/image"/><Relationship Id="rId7" Target="../media/image13.png" Type="http://schemas.openxmlformats.org/officeDocument/2006/relationships/image"/><Relationship Id="rId8" Target="../media/image1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15.png" Type="http://schemas.openxmlformats.org/officeDocument/2006/relationships/image"/><Relationship Id="rId7" Target="../media/image16.png" Type="http://schemas.openxmlformats.org/officeDocument/2006/relationships/image"/><Relationship Id="rId8" Target="../media/image17.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18.png" Type="http://schemas.openxmlformats.org/officeDocument/2006/relationships/image"/><Relationship Id="rId7" Target="../media/image19.png" Type="http://schemas.openxmlformats.org/officeDocument/2006/relationships/image"/><Relationship Id="rId8" Target="../media/image20.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21.png" Type="http://schemas.openxmlformats.org/officeDocument/2006/relationships/image"/><Relationship Id="rId7" Target="../media/image22.png" Type="http://schemas.openxmlformats.org/officeDocument/2006/relationships/image"/><Relationship Id="rId8" Target="../media/image23.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9E9E9"/>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598671" y="-1743170"/>
            <a:ext cx="4840370" cy="6758253"/>
          </a:xfrm>
          <a:custGeom>
            <a:avLst/>
            <a:gdLst/>
            <a:ahLst/>
            <a:cxnLst/>
            <a:rect r="r" b="b" t="t" l="l"/>
            <a:pathLst>
              <a:path h="6758253" w="4840370">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5400000">
            <a:off x="13890343" y="5516388"/>
            <a:ext cx="4840370" cy="6758253"/>
          </a:xfrm>
          <a:custGeom>
            <a:avLst/>
            <a:gdLst/>
            <a:ahLst/>
            <a:cxnLst/>
            <a:rect r="r" b="b" t="t" l="l"/>
            <a:pathLst>
              <a:path h="6758253" w="4840370">
                <a:moveTo>
                  <a:pt x="4840371" y="6758253"/>
                </a:moveTo>
                <a:lnTo>
                  <a:pt x="0" y="6758253"/>
                </a:lnTo>
                <a:lnTo>
                  <a:pt x="0" y="0"/>
                </a:lnTo>
                <a:lnTo>
                  <a:pt x="4840371" y="0"/>
                </a:lnTo>
                <a:lnTo>
                  <a:pt x="4840371" y="6758253"/>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212327">
            <a:off x="-1633813" y="4706943"/>
            <a:ext cx="7684967" cy="7684967"/>
          </a:xfrm>
          <a:custGeom>
            <a:avLst/>
            <a:gdLst/>
            <a:ahLst/>
            <a:cxnLst/>
            <a:rect r="r" b="b" t="t" l="l"/>
            <a:pathLst>
              <a:path h="7684967" w="7684967">
                <a:moveTo>
                  <a:pt x="7684968" y="0"/>
                </a:moveTo>
                <a:lnTo>
                  <a:pt x="0" y="0"/>
                </a:lnTo>
                <a:lnTo>
                  <a:pt x="0" y="7684968"/>
                </a:lnTo>
                <a:lnTo>
                  <a:pt x="7684968" y="7684968"/>
                </a:lnTo>
                <a:lnTo>
                  <a:pt x="7684968"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false" rot="0">
            <a:off x="-2020970" y="4706943"/>
            <a:ext cx="7684967" cy="7684967"/>
          </a:xfrm>
          <a:custGeom>
            <a:avLst/>
            <a:gdLst/>
            <a:ahLst/>
            <a:cxnLst/>
            <a:rect r="r" b="b" t="t" l="l"/>
            <a:pathLst>
              <a:path h="7684967" w="7684967">
                <a:moveTo>
                  <a:pt x="7684968" y="0"/>
                </a:moveTo>
                <a:lnTo>
                  <a:pt x="0" y="0"/>
                </a:lnTo>
                <a:lnTo>
                  <a:pt x="0" y="7684968"/>
                </a:lnTo>
                <a:lnTo>
                  <a:pt x="7684968" y="7684968"/>
                </a:lnTo>
                <a:lnTo>
                  <a:pt x="7684968"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true" rot="-176744">
            <a:off x="12281842" y="-3234705"/>
            <a:ext cx="6992792" cy="6992792"/>
          </a:xfrm>
          <a:custGeom>
            <a:avLst/>
            <a:gdLst/>
            <a:ahLst/>
            <a:cxnLst/>
            <a:rect r="r" b="b" t="t" l="l"/>
            <a:pathLst>
              <a:path h="6992792" w="6992792">
                <a:moveTo>
                  <a:pt x="0" y="6992792"/>
                </a:moveTo>
                <a:lnTo>
                  <a:pt x="6992792" y="6992792"/>
                </a:lnTo>
                <a:lnTo>
                  <a:pt x="6992792" y="0"/>
                </a:lnTo>
                <a:lnTo>
                  <a:pt x="0" y="0"/>
                </a:lnTo>
                <a:lnTo>
                  <a:pt x="0" y="6992792"/>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true" rot="0">
            <a:off x="12348517" y="-3496396"/>
            <a:ext cx="6992792" cy="6992792"/>
          </a:xfrm>
          <a:custGeom>
            <a:avLst/>
            <a:gdLst/>
            <a:ahLst/>
            <a:cxnLst/>
            <a:rect r="r" b="b" t="t" l="l"/>
            <a:pathLst>
              <a:path h="6992792" w="6992792">
                <a:moveTo>
                  <a:pt x="0" y="6992792"/>
                </a:moveTo>
                <a:lnTo>
                  <a:pt x="6992792" y="6992792"/>
                </a:lnTo>
                <a:lnTo>
                  <a:pt x="6992792" y="0"/>
                </a:lnTo>
                <a:lnTo>
                  <a:pt x="0" y="0"/>
                </a:lnTo>
                <a:lnTo>
                  <a:pt x="0" y="6992792"/>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2668325" y="3508775"/>
            <a:ext cx="12951349" cy="3183724"/>
          </a:xfrm>
          <a:prstGeom prst="rect">
            <a:avLst/>
          </a:prstGeom>
        </p:spPr>
        <p:txBody>
          <a:bodyPr anchor="t" rtlCol="false" tIns="0" lIns="0" bIns="0" rIns="0">
            <a:spAutoFit/>
          </a:bodyPr>
          <a:lstStyle/>
          <a:p>
            <a:pPr algn="ctr">
              <a:lnSpc>
                <a:spcPts val="6589"/>
              </a:lnSpc>
            </a:pPr>
            <a:r>
              <a:rPr lang="en-US" b="true" sz="4706">
                <a:solidFill>
                  <a:srgbClr val="3F3D3E"/>
                </a:solidFill>
                <a:latin typeface="Alexandria Bold"/>
                <a:ea typeface="Alexandria Bold"/>
                <a:cs typeface="Alexandria Bold"/>
                <a:sym typeface="Alexandria Bold"/>
              </a:rPr>
              <a:t>MACHINE LEARNING-BASED CLASSIFICATION OF OBESITY LEVELS FROM LIFESTYLE INDICATORS IN ADULT</a:t>
            </a:r>
          </a:p>
          <a:p>
            <a:pPr algn="ctr">
              <a:lnSpc>
                <a:spcPts val="5749"/>
              </a:lnSpc>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9E9E9"/>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598671" y="-1743170"/>
            <a:ext cx="4840370" cy="6758253"/>
          </a:xfrm>
          <a:custGeom>
            <a:avLst/>
            <a:gdLst/>
            <a:ahLst/>
            <a:cxnLst/>
            <a:rect r="r" b="b" t="t" l="l"/>
            <a:pathLst>
              <a:path h="6758253" w="4840370">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4541415" y="597815"/>
            <a:ext cx="9205169" cy="1392492"/>
          </a:xfrm>
          <a:prstGeom prst="rect">
            <a:avLst/>
          </a:prstGeom>
        </p:spPr>
        <p:txBody>
          <a:bodyPr anchor="t" rtlCol="false" tIns="0" lIns="0" bIns="0" rIns="0">
            <a:spAutoFit/>
          </a:bodyPr>
          <a:lstStyle/>
          <a:p>
            <a:pPr algn="ctr">
              <a:lnSpc>
                <a:spcPts val="11448"/>
              </a:lnSpc>
            </a:pPr>
            <a:r>
              <a:rPr lang="en-US" b="true" sz="8177">
                <a:solidFill>
                  <a:srgbClr val="3F3D3E"/>
                </a:solidFill>
                <a:latin typeface="Alexandria Bold"/>
                <a:ea typeface="Alexandria Bold"/>
                <a:cs typeface="Alexandria Bold"/>
                <a:sym typeface="Alexandria Bold"/>
              </a:rPr>
              <a:t>TEAM MEMBERS:</a:t>
            </a:r>
          </a:p>
        </p:txBody>
      </p:sp>
      <p:sp>
        <p:nvSpPr>
          <p:cNvPr name="TextBox 4" id="4"/>
          <p:cNvSpPr txBox="true"/>
          <p:nvPr/>
        </p:nvSpPr>
        <p:spPr>
          <a:xfrm rot="0">
            <a:off x="3443857" y="3779124"/>
            <a:ext cx="11400286" cy="2643027"/>
          </a:xfrm>
          <a:prstGeom prst="rect">
            <a:avLst/>
          </a:prstGeom>
        </p:spPr>
        <p:txBody>
          <a:bodyPr anchor="t" rtlCol="false" tIns="0" lIns="0" bIns="0" rIns="0">
            <a:spAutoFit/>
          </a:bodyPr>
          <a:lstStyle/>
          <a:p>
            <a:pPr algn="ctr">
              <a:lnSpc>
                <a:spcPts val="7096"/>
              </a:lnSpc>
            </a:pPr>
            <a:r>
              <a:rPr lang="en-US" sz="5068">
                <a:solidFill>
                  <a:srgbClr val="545454"/>
                </a:solidFill>
                <a:latin typeface="Garet"/>
                <a:ea typeface="Garet"/>
                <a:cs typeface="Garet"/>
                <a:sym typeface="Garet"/>
              </a:rPr>
              <a:t>Sai Manikanta </a:t>
            </a:r>
          </a:p>
          <a:p>
            <a:pPr algn="ctr">
              <a:lnSpc>
                <a:spcPts val="7096"/>
              </a:lnSpc>
            </a:pPr>
            <a:r>
              <a:rPr lang="en-US" sz="5068">
                <a:solidFill>
                  <a:srgbClr val="545454"/>
                </a:solidFill>
                <a:latin typeface="Garet"/>
                <a:ea typeface="Garet"/>
                <a:cs typeface="Garet"/>
                <a:sym typeface="Garet"/>
              </a:rPr>
              <a:t>Vivek Atchutanna</a:t>
            </a:r>
          </a:p>
          <a:p>
            <a:pPr algn="ctr">
              <a:lnSpc>
                <a:spcPts val="7096"/>
              </a:lnSpc>
              <a:spcBef>
                <a:spcPct val="0"/>
              </a:spcBef>
            </a:pPr>
            <a:r>
              <a:rPr lang="en-US" sz="5068">
                <a:solidFill>
                  <a:srgbClr val="545454"/>
                </a:solidFill>
                <a:latin typeface="Garet"/>
                <a:ea typeface="Garet"/>
                <a:cs typeface="Garet"/>
                <a:sym typeface="Garet"/>
              </a:rPr>
              <a:t>Mahender Tanniru</a:t>
            </a:r>
          </a:p>
        </p:txBody>
      </p:sp>
      <p:sp>
        <p:nvSpPr>
          <p:cNvPr name="Freeform 5" id="5"/>
          <p:cNvSpPr/>
          <p:nvPr/>
        </p:nvSpPr>
        <p:spPr>
          <a:xfrm flipH="false" flipV="false" rot="-574333">
            <a:off x="-598671" y="5498906"/>
            <a:ext cx="4840370" cy="6758253"/>
          </a:xfrm>
          <a:custGeom>
            <a:avLst/>
            <a:gdLst/>
            <a:ahLst/>
            <a:cxnLst/>
            <a:rect r="r" b="b" t="t" l="l"/>
            <a:pathLst>
              <a:path h="6758253" w="4840370">
                <a:moveTo>
                  <a:pt x="0" y="0"/>
                </a:moveTo>
                <a:lnTo>
                  <a:pt x="4840370" y="0"/>
                </a:lnTo>
                <a:lnTo>
                  <a:pt x="4840370" y="6758253"/>
                </a:lnTo>
                <a:lnTo>
                  <a:pt x="0" y="675825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6" id="6"/>
          <p:cNvSpPr/>
          <p:nvPr/>
        </p:nvSpPr>
        <p:spPr>
          <a:xfrm>
            <a:off x="4541415" y="9464180"/>
            <a:ext cx="11672841" cy="0"/>
          </a:xfrm>
          <a:prstGeom prst="line">
            <a:avLst/>
          </a:prstGeom>
          <a:ln cap="flat" w="9525">
            <a:solidFill>
              <a:srgbClr val="545454"/>
            </a:solidFill>
            <a:prstDash val="solid"/>
            <a:headEnd type="none" len="sm" w="sm"/>
            <a:tailEnd type="none" len="sm" w="sm"/>
          </a:ln>
        </p:spPr>
      </p:sp>
      <p:sp>
        <p:nvSpPr>
          <p:cNvPr name="TextBox 7" id="7"/>
          <p:cNvSpPr txBox="true"/>
          <p:nvPr/>
        </p:nvSpPr>
        <p:spPr>
          <a:xfrm rot="0">
            <a:off x="16214256" y="9019603"/>
            <a:ext cx="1271574" cy="803430"/>
          </a:xfrm>
          <a:prstGeom prst="rect">
            <a:avLst/>
          </a:prstGeom>
        </p:spPr>
        <p:txBody>
          <a:bodyPr anchor="t" rtlCol="false" tIns="0" lIns="0" bIns="0" rIns="0">
            <a:spAutoFit/>
          </a:bodyPr>
          <a:lstStyle/>
          <a:p>
            <a:pPr algn="ctr">
              <a:lnSpc>
                <a:spcPts val="6641"/>
              </a:lnSpc>
              <a:spcBef>
                <a:spcPct val="0"/>
              </a:spcBef>
            </a:pPr>
            <a:r>
              <a:rPr lang="en-US" b="true" sz="4743">
                <a:solidFill>
                  <a:srgbClr val="545454"/>
                </a:solidFill>
                <a:latin typeface="Garet Bold"/>
                <a:ea typeface="Garet Bold"/>
                <a:cs typeface="Garet Bold"/>
                <a:sym typeface="Garet Bold"/>
              </a:rPr>
              <a:t>01</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9E9E9"/>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598671" y="-1743170"/>
            <a:ext cx="4840370" cy="6758253"/>
          </a:xfrm>
          <a:custGeom>
            <a:avLst/>
            <a:gdLst/>
            <a:ahLst/>
            <a:cxnLst/>
            <a:rect r="r" b="b" t="t" l="l"/>
            <a:pathLst>
              <a:path h="6758253" w="4840370">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637487" y="2576019"/>
            <a:ext cx="15013026" cy="5693233"/>
          </a:xfrm>
          <a:prstGeom prst="rect">
            <a:avLst/>
          </a:prstGeom>
        </p:spPr>
        <p:txBody>
          <a:bodyPr anchor="t" rtlCol="false" tIns="0" lIns="0" bIns="0" rIns="0">
            <a:spAutoFit/>
          </a:bodyPr>
          <a:lstStyle/>
          <a:p>
            <a:pPr algn="l">
              <a:lnSpc>
                <a:spcPts val="3824"/>
              </a:lnSpc>
              <a:spcBef>
                <a:spcPct val="0"/>
              </a:spcBef>
            </a:pPr>
            <a:r>
              <a:rPr lang="en-US" sz="2731">
                <a:solidFill>
                  <a:srgbClr val="545454"/>
                </a:solidFill>
                <a:latin typeface="Garet"/>
                <a:ea typeface="Garet"/>
                <a:cs typeface="Garet"/>
                <a:sym typeface="Garet"/>
              </a:rPr>
              <a:t>A major influence on physical health and a burden on healthcare systems, obesity has emerged as a global public health emergency. The purpose of this study is to investigate the relationship between lifestyle factors—specifically, screen time, physical activity, smoking, and alcohol consumption—and the prediction of obesity and associated health outcomes, including body weight and Body Mass Index (BMI). We aim to address important questions regarding the relationship between smoking and alcohol use and the risk of obesity, the role of screen time and physical activity in weight classification, and whether weight or BMI can be predicted from a person's height and lifestyle choices by using machine learning techniques on a large dataset. The results are intended to advance behavioral epidemiology and guide tailored health interventions.</a:t>
            </a:r>
          </a:p>
          <a:p>
            <a:pPr algn="just">
              <a:lnSpc>
                <a:spcPts val="3824"/>
              </a:lnSpc>
              <a:spcBef>
                <a:spcPct val="0"/>
              </a:spcBef>
            </a:pPr>
          </a:p>
        </p:txBody>
      </p:sp>
      <p:sp>
        <p:nvSpPr>
          <p:cNvPr name="TextBox 4" id="4"/>
          <p:cNvSpPr txBox="true"/>
          <p:nvPr/>
        </p:nvSpPr>
        <p:spPr>
          <a:xfrm rot="0">
            <a:off x="4541415" y="1048631"/>
            <a:ext cx="9205169" cy="1392492"/>
          </a:xfrm>
          <a:prstGeom prst="rect">
            <a:avLst/>
          </a:prstGeom>
        </p:spPr>
        <p:txBody>
          <a:bodyPr anchor="t" rtlCol="false" tIns="0" lIns="0" bIns="0" rIns="0">
            <a:spAutoFit/>
          </a:bodyPr>
          <a:lstStyle/>
          <a:p>
            <a:pPr algn="ctr">
              <a:lnSpc>
                <a:spcPts val="11448"/>
              </a:lnSpc>
            </a:pPr>
            <a:r>
              <a:rPr lang="en-US" b="true" sz="8177">
                <a:solidFill>
                  <a:srgbClr val="3F3D3E"/>
                </a:solidFill>
                <a:latin typeface="Alexandria Bold"/>
                <a:ea typeface="Alexandria Bold"/>
                <a:cs typeface="Alexandria Bold"/>
                <a:sym typeface="Alexandria Bold"/>
              </a:rPr>
              <a:t>INTRODUCTION </a:t>
            </a:r>
          </a:p>
        </p:txBody>
      </p:sp>
      <p:sp>
        <p:nvSpPr>
          <p:cNvPr name="Freeform 5" id="5"/>
          <p:cNvSpPr/>
          <p:nvPr/>
        </p:nvSpPr>
        <p:spPr>
          <a:xfrm flipH="false" flipV="false" rot="-574333">
            <a:off x="-827176" y="5192079"/>
            <a:ext cx="4840370" cy="6758253"/>
          </a:xfrm>
          <a:custGeom>
            <a:avLst/>
            <a:gdLst/>
            <a:ahLst/>
            <a:cxnLst/>
            <a:rect r="r" b="b" t="t" l="l"/>
            <a:pathLst>
              <a:path h="6758253" w="4840370">
                <a:moveTo>
                  <a:pt x="0" y="0"/>
                </a:moveTo>
                <a:lnTo>
                  <a:pt x="4840371" y="0"/>
                </a:lnTo>
                <a:lnTo>
                  <a:pt x="4840371" y="6758253"/>
                </a:lnTo>
                <a:lnTo>
                  <a:pt x="0" y="675825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6" id="6"/>
          <p:cNvSpPr/>
          <p:nvPr/>
        </p:nvSpPr>
        <p:spPr>
          <a:xfrm>
            <a:off x="4541415" y="9464180"/>
            <a:ext cx="11672841" cy="0"/>
          </a:xfrm>
          <a:prstGeom prst="line">
            <a:avLst/>
          </a:prstGeom>
          <a:ln cap="flat" w="9525">
            <a:solidFill>
              <a:srgbClr val="545454"/>
            </a:solidFill>
            <a:prstDash val="solid"/>
            <a:headEnd type="none" len="sm" w="sm"/>
            <a:tailEnd type="none" len="sm" w="sm"/>
          </a:ln>
        </p:spPr>
      </p:sp>
      <p:sp>
        <p:nvSpPr>
          <p:cNvPr name="TextBox 7" id="7"/>
          <p:cNvSpPr txBox="true"/>
          <p:nvPr/>
        </p:nvSpPr>
        <p:spPr>
          <a:xfrm rot="0">
            <a:off x="16214256" y="9019603"/>
            <a:ext cx="1271574" cy="803430"/>
          </a:xfrm>
          <a:prstGeom prst="rect">
            <a:avLst/>
          </a:prstGeom>
        </p:spPr>
        <p:txBody>
          <a:bodyPr anchor="t" rtlCol="false" tIns="0" lIns="0" bIns="0" rIns="0">
            <a:spAutoFit/>
          </a:bodyPr>
          <a:lstStyle/>
          <a:p>
            <a:pPr algn="ctr">
              <a:lnSpc>
                <a:spcPts val="6641"/>
              </a:lnSpc>
              <a:spcBef>
                <a:spcPct val="0"/>
              </a:spcBef>
            </a:pPr>
            <a:r>
              <a:rPr lang="en-US" b="true" sz="4743">
                <a:solidFill>
                  <a:srgbClr val="545454"/>
                </a:solidFill>
                <a:latin typeface="Garet Bold"/>
                <a:ea typeface="Garet Bold"/>
                <a:cs typeface="Garet Bold"/>
                <a:sym typeface="Garet Bold"/>
              </a:rPr>
              <a:t>02</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9E9E9"/>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598671" y="-1743170"/>
            <a:ext cx="4840370" cy="6758253"/>
          </a:xfrm>
          <a:custGeom>
            <a:avLst/>
            <a:gdLst/>
            <a:ahLst/>
            <a:cxnLst/>
            <a:rect r="r" b="b" t="t" l="l"/>
            <a:pathLst>
              <a:path h="6758253" w="4840370">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4541415" y="256254"/>
            <a:ext cx="9205169" cy="1392492"/>
          </a:xfrm>
          <a:prstGeom prst="rect">
            <a:avLst/>
          </a:prstGeom>
        </p:spPr>
        <p:txBody>
          <a:bodyPr anchor="t" rtlCol="false" tIns="0" lIns="0" bIns="0" rIns="0">
            <a:spAutoFit/>
          </a:bodyPr>
          <a:lstStyle/>
          <a:p>
            <a:pPr algn="ctr">
              <a:lnSpc>
                <a:spcPts val="11448"/>
              </a:lnSpc>
            </a:pPr>
            <a:r>
              <a:rPr lang="en-US" b="true" sz="8177">
                <a:solidFill>
                  <a:srgbClr val="3F3D3E"/>
                </a:solidFill>
                <a:latin typeface="Alexandria Bold"/>
                <a:ea typeface="Alexandria Bold"/>
                <a:cs typeface="Alexandria Bold"/>
                <a:sym typeface="Alexandria Bold"/>
              </a:rPr>
              <a:t>MOTIVATION </a:t>
            </a:r>
          </a:p>
        </p:txBody>
      </p:sp>
      <p:sp>
        <p:nvSpPr>
          <p:cNvPr name="TextBox 4" id="4"/>
          <p:cNvSpPr txBox="true"/>
          <p:nvPr/>
        </p:nvSpPr>
        <p:spPr>
          <a:xfrm rot="0">
            <a:off x="1681206" y="1977451"/>
            <a:ext cx="14925588" cy="5226159"/>
          </a:xfrm>
          <a:prstGeom prst="rect">
            <a:avLst/>
          </a:prstGeom>
        </p:spPr>
        <p:txBody>
          <a:bodyPr anchor="t" rtlCol="false" tIns="0" lIns="0" bIns="0" rIns="0">
            <a:spAutoFit/>
          </a:bodyPr>
          <a:lstStyle/>
          <a:p>
            <a:pPr algn="ctr">
              <a:lnSpc>
                <a:spcPts val="4130"/>
              </a:lnSpc>
              <a:spcBef>
                <a:spcPct val="0"/>
              </a:spcBef>
            </a:pPr>
            <a:r>
              <a:rPr lang="en-US" sz="2950">
                <a:solidFill>
                  <a:srgbClr val="545454"/>
                </a:solidFill>
                <a:latin typeface="Garet"/>
                <a:ea typeface="Garet"/>
                <a:cs typeface="Garet"/>
                <a:sym typeface="Garet"/>
              </a:rPr>
              <a:t>The rising prevalence of obesity globally is a major public health concern, with far-reaching implications for people's health and healthcare systems. Since obesity is linked to multiple chronic conditions, including diabetes, heart disease, and various forms of cancer, its underlying causes must be identified and addressed. In addition to genetics, a number of lifestyle factors, such as alcohol usage, smoking, physical inactivity, and screen time, contribute to the obesity pandemic. This study uses machine learning to analyze these characteristics in order to find patterns and factors that contribute to obesity. Important data for developing tailored health interventions and targeted prevention strategies will be obtained from this. </a:t>
            </a:r>
          </a:p>
        </p:txBody>
      </p:sp>
      <p:sp>
        <p:nvSpPr>
          <p:cNvPr name="Freeform 5" id="5"/>
          <p:cNvSpPr/>
          <p:nvPr/>
        </p:nvSpPr>
        <p:spPr>
          <a:xfrm flipH="false" flipV="false" rot="-574333">
            <a:off x="-598671" y="5498906"/>
            <a:ext cx="4840370" cy="6758253"/>
          </a:xfrm>
          <a:custGeom>
            <a:avLst/>
            <a:gdLst/>
            <a:ahLst/>
            <a:cxnLst/>
            <a:rect r="r" b="b" t="t" l="l"/>
            <a:pathLst>
              <a:path h="6758253" w="4840370">
                <a:moveTo>
                  <a:pt x="0" y="0"/>
                </a:moveTo>
                <a:lnTo>
                  <a:pt x="4840370" y="0"/>
                </a:lnTo>
                <a:lnTo>
                  <a:pt x="4840370" y="6758253"/>
                </a:lnTo>
                <a:lnTo>
                  <a:pt x="0" y="675825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6" id="6"/>
          <p:cNvSpPr/>
          <p:nvPr/>
        </p:nvSpPr>
        <p:spPr>
          <a:xfrm>
            <a:off x="4541415" y="9464180"/>
            <a:ext cx="11672841" cy="0"/>
          </a:xfrm>
          <a:prstGeom prst="line">
            <a:avLst/>
          </a:prstGeom>
          <a:ln cap="flat" w="9525">
            <a:solidFill>
              <a:srgbClr val="545454"/>
            </a:solidFill>
            <a:prstDash val="solid"/>
            <a:headEnd type="none" len="sm" w="sm"/>
            <a:tailEnd type="none" len="sm" w="sm"/>
          </a:ln>
        </p:spPr>
      </p:sp>
      <p:sp>
        <p:nvSpPr>
          <p:cNvPr name="TextBox 7" id="7"/>
          <p:cNvSpPr txBox="true"/>
          <p:nvPr/>
        </p:nvSpPr>
        <p:spPr>
          <a:xfrm rot="0">
            <a:off x="16214256" y="9019603"/>
            <a:ext cx="1271574" cy="803430"/>
          </a:xfrm>
          <a:prstGeom prst="rect">
            <a:avLst/>
          </a:prstGeom>
        </p:spPr>
        <p:txBody>
          <a:bodyPr anchor="t" rtlCol="false" tIns="0" lIns="0" bIns="0" rIns="0">
            <a:spAutoFit/>
          </a:bodyPr>
          <a:lstStyle/>
          <a:p>
            <a:pPr algn="ctr">
              <a:lnSpc>
                <a:spcPts val="6641"/>
              </a:lnSpc>
              <a:spcBef>
                <a:spcPct val="0"/>
              </a:spcBef>
            </a:pPr>
            <a:r>
              <a:rPr lang="en-US" b="true" sz="4743">
                <a:solidFill>
                  <a:srgbClr val="545454"/>
                </a:solidFill>
                <a:latin typeface="Garet Bold"/>
                <a:ea typeface="Garet Bold"/>
                <a:cs typeface="Garet Bold"/>
                <a:sym typeface="Garet Bold"/>
              </a:rPr>
              <a:t>03</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9E9E9"/>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598671" y="-1743170"/>
            <a:ext cx="4840370" cy="6758253"/>
          </a:xfrm>
          <a:custGeom>
            <a:avLst/>
            <a:gdLst/>
            <a:ahLst/>
            <a:cxnLst/>
            <a:rect r="r" b="b" t="t" l="l"/>
            <a:pathLst>
              <a:path h="6758253" w="4840370">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707192" y="3433260"/>
            <a:ext cx="5889308" cy="4565171"/>
            <a:chOff x="0" y="0"/>
            <a:chExt cx="912408" cy="707264"/>
          </a:xfrm>
        </p:grpSpPr>
        <p:sp>
          <p:nvSpPr>
            <p:cNvPr name="Freeform 4" id="4"/>
            <p:cNvSpPr/>
            <p:nvPr/>
          </p:nvSpPr>
          <p:spPr>
            <a:xfrm flipH="false" flipV="false" rot="0">
              <a:off x="0" y="0"/>
              <a:ext cx="912408" cy="707264"/>
            </a:xfrm>
            <a:custGeom>
              <a:avLst/>
              <a:gdLst/>
              <a:ahLst/>
              <a:cxnLst/>
              <a:rect r="r" b="b" t="t" l="l"/>
              <a:pathLst>
                <a:path h="707264" w="912408">
                  <a:moveTo>
                    <a:pt x="0" y="0"/>
                  </a:moveTo>
                  <a:lnTo>
                    <a:pt x="912408" y="0"/>
                  </a:lnTo>
                  <a:lnTo>
                    <a:pt x="912408" y="707264"/>
                  </a:lnTo>
                  <a:lnTo>
                    <a:pt x="0" y="707264"/>
                  </a:lnTo>
                  <a:close/>
                </a:path>
              </a:pathLst>
            </a:custGeom>
            <a:blipFill>
              <a:blip r:embed="rId4"/>
              <a:stretch>
                <a:fillRect l="-79193" t="0" r="-79193" b="0"/>
              </a:stretch>
            </a:blipFill>
          </p:spPr>
        </p:sp>
      </p:grpSp>
      <p:sp>
        <p:nvSpPr>
          <p:cNvPr name="TextBox 5" id="5"/>
          <p:cNvSpPr txBox="true"/>
          <p:nvPr/>
        </p:nvSpPr>
        <p:spPr>
          <a:xfrm rot="0">
            <a:off x="3786823" y="2495048"/>
            <a:ext cx="6561171" cy="6374921"/>
          </a:xfrm>
          <a:prstGeom prst="rect">
            <a:avLst/>
          </a:prstGeom>
        </p:spPr>
        <p:txBody>
          <a:bodyPr anchor="t" rtlCol="false" tIns="0" lIns="0" bIns="0" rIns="0">
            <a:spAutoFit/>
          </a:bodyPr>
          <a:lstStyle/>
          <a:p>
            <a:pPr algn="l">
              <a:lnSpc>
                <a:spcPts val="4576"/>
              </a:lnSpc>
              <a:spcBef>
                <a:spcPct val="0"/>
              </a:spcBef>
            </a:pPr>
            <a:r>
              <a:rPr lang="en-US" sz="3268">
                <a:solidFill>
                  <a:srgbClr val="545454"/>
                </a:solidFill>
                <a:latin typeface="Garet"/>
                <a:ea typeface="Garet"/>
                <a:cs typeface="Garet"/>
                <a:sym typeface="Garet"/>
              </a:rPr>
              <a:t>The data is taken from openml. 2087 entries and 16 attributes make up the dataset used in this project, which captures a variety of behavioral, lifestyle, and health aspects important for predicting obesity levels. It contains both qualitative and numerical data, with a person represented by each row. </a:t>
            </a:r>
          </a:p>
        </p:txBody>
      </p:sp>
      <p:sp>
        <p:nvSpPr>
          <p:cNvPr name="Freeform 6" id="6"/>
          <p:cNvSpPr/>
          <p:nvPr/>
        </p:nvSpPr>
        <p:spPr>
          <a:xfrm flipH="false" flipV="false" rot="-574333">
            <a:off x="-598671" y="5498906"/>
            <a:ext cx="4840370" cy="6758253"/>
          </a:xfrm>
          <a:custGeom>
            <a:avLst/>
            <a:gdLst/>
            <a:ahLst/>
            <a:cxnLst/>
            <a:rect r="r" b="b" t="t" l="l"/>
            <a:pathLst>
              <a:path h="6758253" w="4840370">
                <a:moveTo>
                  <a:pt x="0" y="0"/>
                </a:moveTo>
                <a:lnTo>
                  <a:pt x="4840370" y="0"/>
                </a:lnTo>
                <a:lnTo>
                  <a:pt x="4840370" y="6758253"/>
                </a:lnTo>
                <a:lnTo>
                  <a:pt x="0" y="675825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AutoShape 7" id="7"/>
          <p:cNvSpPr/>
          <p:nvPr/>
        </p:nvSpPr>
        <p:spPr>
          <a:xfrm>
            <a:off x="4541415" y="9464180"/>
            <a:ext cx="11672841" cy="0"/>
          </a:xfrm>
          <a:prstGeom prst="line">
            <a:avLst/>
          </a:prstGeom>
          <a:ln cap="flat" w="9525">
            <a:solidFill>
              <a:srgbClr val="545454"/>
            </a:solidFill>
            <a:prstDash val="solid"/>
            <a:headEnd type="none" len="sm" w="sm"/>
            <a:tailEnd type="none" len="sm" w="sm"/>
          </a:ln>
        </p:spPr>
      </p:sp>
      <p:sp>
        <p:nvSpPr>
          <p:cNvPr name="TextBox 8" id="8"/>
          <p:cNvSpPr txBox="true"/>
          <p:nvPr/>
        </p:nvSpPr>
        <p:spPr>
          <a:xfrm rot="0">
            <a:off x="3089656" y="579782"/>
            <a:ext cx="12108687" cy="1392492"/>
          </a:xfrm>
          <a:prstGeom prst="rect">
            <a:avLst/>
          </a:prstGeom>
        </p:spPr>
        <p:txBody>
          <a:bodyPr anchor="t" rtlCol="false" tIns="0" lIns="0" bIns="0" rIns="0">
            <a:spAutoFit/>
          </a:bodyPr>
          <a:lstStyle/>
          <a:p>
            <a:pPr algn="ctr">
              <a:lnSpc>
                <a:spcPts val="11448"/>
              </a:lnSpc>
            </a:pPr>
            <a:r>
              <a:rPr lang="en-US" b="true" sz="8177">
                <a:solidFill>
                  <a:srgbClr val="3F3D3E"/>
                </a:solidFill>
                <a:latin typeface="Alexandria Bold"/>
                <a:ea typeface="Alexandria Bold"/>
                <a:cs typeface="Alexandria Bold"/>
                <a:sym typeface="Alexandria Bold"/>
              </a:rPr>
              <a:t>DATA DESCRIPTION</a:t>
            </a:r>
          </a:p>
        </p:txBody>
      </p:sp>
      <p:sp>
        <p:nvSpPr>
          <p:cNvPr name="TextBox 9" id="9"/>
          <p:cNvSpPr txBox="true"/>
          <p:nvPr/>
        </p:nvSpPr>
        <p:spPr>
          <a:xfrm rot="0">
            <a:off x="16214256" y="9019603"/>
            <a:ext cx="1271574" cy="803430"/>
          </a:xfrm>
          <a:prstGeom prst="rect">
            <a:avLst/>
          </a:prstGeom>
        </p:spPr>
        <p:txBody>
          <a:bodyPr anchor="t" rtlCol="false" tIns="0" lIns="0" bIns="0" rIns="0">
            <a:spAutoFit/>
          </a:bodyPr>
          <a:lstStyle/>
          <a:p>
            <a:pPr algn="ctr">
              <a:lnSpc>
                <a:spcPts val="6641"/>
              </a:lnSpc>
              <a:spcBef>
                <a:spcPct val="0"/>
              </a:spcBef>
            </a:pPr>
            <a:r>
              <a:rPr lang="en-US" b="true" sz="4743">
                <a:solidFill>
                  <a:srgbClr val="545454"/>
                </a:solidFill>
                <a:latin typeface="Garet Bold"/>
                <a:ea typeface="Garet Bold"/>
                <a:cs typeface="Garet Bold"/>
                <a:sym typeface="Garet Bold"/>
              </a:rPr>
              <a:t>03</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9E9E9"/>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598671" y="-1743170"/>
            <a:ext cx="4840370" cy="6758253"/>
          </a:xfrm>
          <a:custGeom>
            <a:avLst/>
            <a:gdLst/>
            <a:ahLst/>
            <a:cxnLst/>
            <a:rect r="r" b="b" t="t" l="l"/>
            <a:pathLst>
              <a:path h="6758253" w="4840370">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4541415" y="256254"/>
            <a:ext cx="9205169" cy="1392492"/>
          </a:xfrm>
          <a:prstGeom prst="rect">
            <a:avLst/>
          </a:prstGeom>
        </p:spPr>
        <p:txBody>
          <a:bodyPr anchor="t" rtlCol="false" tIns="0" lIns="0" bIns="0" rIns="0">
            <a:spAutoFit/>
          </a:bodyPr>
          <a:lstStyle/>
          <a:p>
            <a:pPr algn="ctr">
              <a:lnSpc>
                <a:spcPts val="11448"/>
              </a:lnSpc>
            </a:pPr>
            <a:r>
              <a:rPr lang="en-US" b="true" sz="8177">
                <a:solidFill>
                  <a:srgbClr val="3F3D3E"/>
                </a:solidFill>
                <a:latin typeface="Alexandria Bold"/>
                <a:ea typeface="Alexandria Bold"/>
                <a:cs typeface="Alexandria Bold"/>
                <a:sym typeface="Alexandria Bold"/>
              </a:rPr>
              <a:t>DATA CLEANING</a:t>
            </a:r>
          </a:p>
        </p:txBody>
      </p:sp>
      <p:sp>
        <p:nvSpPr>
          <p:cNvPr name="TextBox 4" id="4"/>
          <p:cNvSpPr txBox="true"/>
          <p:nvPr/>
        </p:nvSpPr>
        <p:spPr>
          <a:xfrm rot="0">
            <a:off x="1821514" y="2405527"/>
            <a:ext cx="14656158" cy="5428320"/>
          </a:xfrm>
          <a:prstGeom prst="rect">
            <a:avLst/>
          </a:prstGeom>
        </p:spPr>
        <p:txBody>
          <a:bodyPr anchor="t" rtlCol="false" tIns="0" lIns="0" bIns="0" rIns="0">
            <a:spAutoFit/>
          </a:bodyPr>
          <a:lstStyle/>
          <a:p>
            <a:pPr algn="l">
              <a:lnSpc>
                <a:spcPts val="3574"/>
              </a:lnSpc>
            </a:pPr>
            <a:r>
              <a:rPr lang="en-US" sz="2553">
                <a:solidFill>
                  <a:srgbClr val="545454"/>
                </a:solidFill>
                <a:latin typeface="Garet"/>
                <a:ea typeface="Garet"/>
                <a:cs typeface="Garet"/>
                <a:sym typeface="Garet"/>
              </a:rPr>
              <a:t>To guarantee accurate analysis and trustworthy outcomes, data cleaning is an essential step. We started this process by employing abbreviations to change long, ambiguous column names into shorter, easier-to-understand labels. We discovered and fixed discrepancies in the age field, where certain decimal values were changed to integers for validity. We determined the Body Mass Index (BMI), a crucial metric for forecasting obesity levels, because the dataset contained height and weight. After that, we eliminated the original height and weight columns. We also interpolated a column with completely missing values using the mean of other columns. We also eliminated duplicate items to prevent redundancy and preserve data integrity. Together, these actions enhanced the dataset's accuracy and quality for subsequent study.</a:t>
            </a:r>
          </a:p>
          <a:p>
            <a:pPr algn="l">
              <a:lnSpc>
                <a:spcPts val="3574"/>
              </a:lnSpc>
            </a:pPr>
          </a:p>
        </p:txBody>
      </p:sp>
      <p:sp>
        <p:nvSpPr>
          <p:cNvPr name="Freeform 5" id="5"/>
          <p:cNvSpPr/>
          <p:nvPr/>
        </p:nvSpPr>
        <p:spPr>
          <a:xfrm flipH="false" flipV="false" rot="-574333">
            <a:off x="-598671" y="5498906"/>
            <a:ext cx="4840370" cy="6758253"/>
          </a:xfrm>
          <a:custGeom>
            <a:avLst/>
            <a:gdLst/>
            <a:ahLst/>
            <a:cxnLst/>
            <a:rect r="r" b="b" t="t" l="l"/>
            <a:pathLst>
              <a:path h="6758253" w="4840370">
                <a:moveTo>
                  <a:pt x="0" y="0"/>
                </a:moveTo>
                <a:lnTo>
                  <a:pt x="4840370" y="0"/>
                </a:lnTo>
                <a:lnTo>
                  <a:pt x="4840370" y="6758253"/>
                </a:lnTo>
                <a:lnTo>
                  <a:pt x="0" y="675825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6" id="6"/>
          <p:cNvSpPr/>
          <p:nvPr/>
        </p:nvSpPr>
        <p:spPr>
          <a:xfrm>
            <a:off x="4541415" y="9464180"/>
            <a:ext cx="11672841" cy="0"/>
          </a:xfrm>
          <a:prstGeom prst="line">
            <a:avLst/>
          </a:prstGeom>
          <a:ln cap="flat" w="9525">
            <a:solidFill>
              <a:srgbClr val="545454"/>
            </a:solidFill>
            <a:prstDash val="solid"/>
            <a:headEnd type="none" len="sm" w="sm"/>
            <a:tailEnd type="none" len="sm" w="sm"/>
          </a:ln>
        </p:spPr>
      </p:sp>
      <p:sp>
        <p:nvSpPr>
          <p:cNvPr name="TextBox 7" id="7"/>
          <p:cNvSpPr txBox="true"/>
          <p:nvPr/>
        </p:nvSpPr>
        <p:spPr>
          <a:xfrm rot="0">
            <a:off x="16214256" y="9019603"/>
            <a:ext cx="1271574" cy="803430"/>
          </a:xfrm>
          <a:prstGeom prst="rect">
            <a:avLst/>
          </a:prstGeom>
        </p:spPr>
        <p:txBody>
          <a:bodyPr anchor="t" rtlCol="false" tIns="0" lIns="0" bIns="0" rIns="0">
            <a:spAutoFit/>
          </a:bodyPr>
          <a:lstStyle/>
          <a:p>
            <a:pPr algn="ctr">
              <a:lnSpc>
                <a:spcPts val="6641"/>
              </a:lnSpc>
              <a:spcBef>
                <a:spcPct val="0"/>
              </a:spcBef>
            </a:pPr>
            <a:r>
              <a:rPr lang="en-US" b="true" sz="4743">
                <a:solidFill>
                  <a:srgbClr val="545454"/>
                </a:solidFill>
                <a:latin typeface="Garet Bold"/>
                <a:ea typeface="Garet Bold"/>
                <a:cs typeface="Garet Bold"/>
                <a:sym typeface="Garet Bold"/>
              </a:rPr>
              <a:t>05</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9E9E9"/>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598671" y="-1743170"/>
            <a:ext cx="4840370" cy="6758253"/>
          </a:xfrm>
          <a:custGeom>
            <a:avLst/>
            <a:gdLst/>
            <a:ahLst/>
            <a:cxnLst/>
            <a:rect r="r" b="b" t="t" l="l"/>
            <a:pathLst>
              <a:path h="6758253" w="4840370">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74333">
            <a:off x="-598671" y="5498906"/>
            <a:ext cx="4840370" cy="6758253"/>
          </a:xfrm>
          <a:custGeom>
            <a:avLst/>
            <a:gdLst/>
            <a:ahLst/>
            <a:cxnLst/>
            <a:rect r="r" b="b" t="t" l="l"/>
            <a:pathLst>
              <a:path h="6758253" w="4840370">
                <a:moveTo>
                  <a:pt x="0" y="0"/>
                </a:moveTo>
                <a:lnTo>
                  <a:pt x="4840370" y="0"/>
                </a:lnTo>
                <a:lnTo>
                  <a:pt x="4840370" y="6758253"/>
                </a:lnTo>
                <a:lnTo>
                  <a:pt x="0" y="675825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380247" y="3433122"/>
            <a:ext cx="5666814" cy="4565171"/>
            <a:chOff x="0" y="0"/>
            <a:chExt cx="912408" cy="735033"/>
          </a:xfrm>
        </p:grpSpPr>
        <p:sp>
          <p:nvSpPr>
            <p:cNvPr name="Freeform 5" id="5"/>
            <p:cNvSpPr/>
            <p:nvPr/>
          </p:nvSpPr>
          <p:spPr>
            <a:xfrm flipH="false" flipV="false" rot="0">
              <a:off x="0" y="0"/>
              <a:ext cx="912408" cy="735033"/>
            </a:xfrm>
            <a:custGeom>
              <a:avLst/>
              <a:gdLst/>
              <a:ahLst/>
              <a:cxnLst/>
              <a:rect r="r" b="b" t="t" l="l"/>
              <a:pathLst>
                <a:path h="735033" w="912408">
                  <a:moveTo>
                    <a:pt x="0" y="0"/>
                  </a:moveTo>
                  <a:lnTo>
                    <a:pt x="912408" y="0"/>
                  </a:lnTo>
                  <a:lnTo>
                    <a:pt x="912408" y="735033"/>
                  </a:lnTo>
                  <a:lnTo>
                    <a:pt x="0" y="735033"/>
                  </a:lnTo>
                  <a:close/>
                </a:path>
              </a:pathLst>
            </a:custGeom>
            <a:blipFill>
              <a:blip r:embed="rId6"/>
              <a:stretch>
                <a:fillRect l="-1056" t="0" r="-49171" b="0"/>
              </a:stretch>
            </a:blipFill>
          </p:spPr>
        </p:sp>
      </p:grpSp>
      <p:sp>
        <p:nvSpPr>
          <p:cNvPr name="AutoShape 6" id="6"/>
          <p:cNvSpPr/>
          <p:nvPr/>
        </p:nvSpPr>
        <p:spPr>
          <a:xfrm>
            <a:off x="4541415" y="9464180"/>
            <a:ext cx="11672841" cy="0"/>
          </a:xfrm>
          <a:prstGeom prst="line">
            <a:avLst/>
          </a:prstGeom>
          <a:ln cap="flat" w="9525">
            <a:solidFill>
              <a:srgbClr val="545454"/>
            </a:solidFill>
            <a:prstDash val="solid"/>
            <a:headEnd type="none" len="sm" w="sm"/>
            <a:tailEnd type="none" len="sm" w="sm"/>
          </a:ln>
        </p:spPr>
      </p:sp>
      <p:grpSp>
        <p:nvGrpSpPr>
          <p:cNvPr name="Group 7" id="7"/>
          <p:cNvGrpSpPr/>
          <p:nvPr/>
        </p:nvGrpSpPr>
        <p:grpSpPr>
          <a:xfrm rot="0">
            <a:off x="6269554" y="3433122"/>
            <a:ext cx="5679775" cy="4565171"/>
            <a:chOff x="0" y="0"/>
            <a:chExt cx="879946" cy="707264"/>
          </a:xfrm>
        </p:grpSpPr>
        <p:sp>
          <p:nvSpPr>
            <p:cNvPr name="Freeform 8" id="8"/>
            <p:cNvSpPr/>
            <p:nvPr/>
          </p:nvSpPr>
          <p:spPr>
            <a:xfrm flipH="false" flipV="false" rot="0">
              <a:off x="0" y="0"/>
              <a:ext cx="879946" cy="707264"/>
            </a:xfrm>
            <a:custGeom>
              <a:avLst/>
              <a:gdLst/>
              <a:ahLst/>
              <a:cxnLst/>
              <a:rect r="r" b="b" t="t" l="l"/>
              <a:pathLst>
                <a:path h="707264" w="879946">
                  <a:moveTo>
                    <a:pt x="0" y="0"/>
                  </a:moveTo>
                  <a:lnTo>
                    <a:pt x="879946" y="0"/>
                  </a:lnTo>
                  <a:lnTo>
                    <a:pt x="879946" y="707264"/>
                  </a:lnTo>
                  <a:lnTo>
                    <a:pt x="0" y="707264"/>
                  </a:lnTo>
                  <a:close/>
                </a:path>
              </a:pathLst>
            </a:custGeom>
            <a:blipFill>
              <a:blip r:embed="rId7"/>
              <a:stretch>
                <a:fillRect l="0" t="0" r="0" b="-9174"/>
              </a:stretch>
            </a:blipFill>
          </p:spPr>
        </p:sp>
      </p:grpSp>
      <p:grpSp>
        <p:nvGrpSpPr>
          <p:cNvPr name="Group 9" id="9"/>
          <p:cNvGrpSpPr/>
          <p:nvPr/>
        </p:nvGrpSpPr>
        <p:grpSpPr>
          <a:xfrm rot="0">
            <a:off x="12158862" y="3433122"/>
            <a:ext cx="5889308" cy="4565171"/>
            <a:chOff x="0" y="0"/>
            <a:chExt cx="912408" cy="707264"/>
          </a:xfrm>
        </p:grpSpPr>
        <p:sp>
          <p:nvSpPr>
            <p:cNvPr name="Freeform 10" id="10"/>
            <p:cNvSpPr/>
            <p:nvPr/>
          </p:nvSpPr>
          <p:spPr>
            <a:xfrm flipH="false" flipV="false" rot="0">
              <a:off x="0" y="0"/>
              <a:ext cx="912408" cy="707264"/>
            </a:xfrm>
            <a:custGeom>
              <a:avLst/>
              <a:gdLst/>
              <a:ahLst/>
              <a:cxnLst/>
              <a:rect r="r" b="b" t="t" l="l"/>
              <a:pathLst>
                <a:path h="707264" w="912408">
                  <a:moveTo>
                    <a:pt x="0" y="0"/>
                  </a:moveTo>
                  <a:lnTo>
                    <a:pt x="912408" y="0"/>
                  </a:lnTo>
                  <a:lnTo>
                    <a:pt x="912408" y="707264"/>
                  </a:lnTo>
                  <a:lnTo>
                    <a:pt x="0" y="707264"/>
                  </a:lnTo>
                  <a:close/>
                </a:path>
              </a:pathLst>
            </a:custGeom>
            <a:blipFill>
              <a:blip r:embed="rId8"/>
              <a:stretch>
                <a:fillRect l="0" t="0" r="-23041" b="0"/>
              </a:stretch>
            </a:blipFill>
          </p:spPr>
        </p:sp>
      </p:grpSp>
      <p:sp>
        <p:nvSpPr>
          <p:cNvPr name="TextBox 11" id="11"/>
          <p:cNvSpPr txBox="true"/>
          <p:nvPr/>
        </p:nvSpPr>
        <p:spPr>
          <a:xfrm rot="0">
            <a:off x="4506857" y="876300"/>
            <a:ext cx="9205169" cy="1392492"/>
          </a:xfrm>
          <a:prstGeom prst="rect">
            <a:avLst/>
          </a:prstGeom>
        </p:spPr>
        <p:txBody>
          <a:bodyPr anchor="t" rtlCol="false" tIns="0" lIns="0" bIns="0" rIns="0">
            <a:spAutoFit/>
          </a:bodyPr>
          <a:lstStyle/>
          <a:p>
            <a:pPr algn="ctr">
              <a:lnSpc>
                <a:spcPts val="11448"/>
              </a:lnSpc>
            </a:pPr>
            <a:r>
              <a:rPr lang="en-US" b="true" sz="8177">
                <a:solidFill>
                  <a:srgbClr val="3F3D3E"/>
                </a:solidFill>
                <a:latin typeface="Alexandria Bold"/>
                <a:ea typeface="Alexandria Bold"/>
                <a:cs typeface="Alexandria Bold"/>
                <a:sym typeface="Alexandria Bold"/>
              </a:rPr>
              <a:t>SCREEN SHOTS </a:t>
            </a:r>
          </a:p>
        </p:txBody>
      </p:sp>
      <p:sp>
        <p:nvSpPr>
          <p:cNvPr name="TextBox 12" id="12"/>
          <p:cNvSpPr txBox="true"/>
          <p:nvPr/>
        </p:nvSpPr>
        <p:spPr>
          <a:xfrm rot="0">
            <a:off x="16214256" y="9019603"/>
            <a:ext cx="1271574" cy="803430"/>
          </a:xfrm>
          <a:prstGeom prst="rect">
            <a:avLst/>
          </a:prstGeom>
        </p:spPr>
        <p:txBody>
          <a:bodyPr anchor="t" rtlCol="false" tIns="0" lIns="0" bIns="0" rIns="0">
            <a:spAutoFit/>
          </a:bodyPr>
          <a:lstStyle/>
          <a:p>
            <a:pPr algn="ctr">
              <a:lnSpc>
                <a:spcPts val="6641"/>
              </a:lnSpc>
              <a:spcBef>
                <a:spcPct val="0"/>
              </a:spcBef>
            </a:pPr>
            <a:r>
              <a:rPr lang="en-US" b="true" sz="4743">
                <a:solidFill>
                  <a:srgbClr val="545454"/>
                </a:solidFill>
                <a:latin typeface="Garet Bold"/>
                <a:ea typeface="Garet Bold"/>
                <a:cs typeface="Garet Bold"/>
                <a:sym typeface="Garet Bold"/>
              </a:rPr>
              <a:t>03</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9E9E9"/>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598671" y="-1743170"/>
            <a:ext cx="4840370" cy="6758253"/>
          </a:xfrm>
          <a:custGeom>
            <a:avLst/>
            <a:gdLst/>
            <a:ahLst/>
            <a:cxnLst/>
            <a:rect r="r" b="b" t="t" l="l"/>
            <a:pathLst>
              <a:path h="6758253" w="4840370">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4171685" y="2511494"/>
            <a:ext cx="12042572" cy="564671"/>
          </a:xfrm>
          <a:prstGeom prst="rect">
            <a:avLst/>
          </a:prstGeom>
        </p:spPr>
        <p:txBody>
          <a:bodyPr anchor="t" rtlCol="false" tIns="0" lIns="0" bIns="0" rIns="0">
            <a:spAutoFit/>
          </a:bodyPr>
          <a:lstStyle/>
          <a:p>
            <a:pPr algn="l">
              <a:lnSpc>
                <a:spcPts val="4576"/>
              </a:lnSpc>
              <a:spcBef>
                <a:spcPct val="0"/>
              </a:spcBef>
            </a:pPr>
            <a:r>
              <a:rPr lang="en-US" sz="3268">
                <a:solidFill>
                  <a:srgbClr val="545454"/>
                </a:solidFill>
                <a:latin typeface="Garet"/>
                <a:ea typeface="Garet"/>
                <a:cs typeface="Garet"/>
                <a:sym typeface="Garet"/>
              </a:rPr>
              <a:t>Can smoking and alcohol habits analyze obesity level ?</a:t>
            </a:r>
          </a:p>
        </p:txBody>
      </p:sp>
      <p:sp>
        <p:nvSpPr>
          <p:cNvPr name="TextBox 4" id="4"/>
          <p:cNvSpPr txBox="true"/>
          <p:nvPr/>
        </p:nvSpPr>
        <p:spPr>
          <a:xfrm rot="0">
            <a:off x="1173933" y="243465"/>
            <a:ext cx="15940133" cy="1392492"/>
          </a:xfrm>
          <a:prstGeom prst="rect">
            <a:avLst/>
          </a:prstGeom>
        </p:spPr>
        <p:txBody>
          <a:bodyPr anchor="t" rtlCol="false" tIns="0" lIns="0" bIns="0" rIns="0">
            <a:spAutoFit/>
          </a:bodyPr>
          <a:lstStyle/>
          <a:p>
            <a:pPr algn="ctr">
              <a:lnSpc>
                <a:spcPts val="11448"/>
              </a:lnSpc>
            </a:pPr>
            <a:r>
              <a:rPr lang="en-US" b="true" sz="8177">
                <a:solidFill>
                  <a:srgbClr val="3F3D3E"/>
                </a:solidFill>
                <a:latin typeface="Alexandria Bold"/>
                <a:ea typeface="Alexandria Bold"/>
                <a:cs typeface="Alexandria Bold"/>
                <a:sym typeface="Alexandria Bold"/>
              </a:rPr>
              <a:t>RESEARCH QUESTIONS</a:t>
            </a:r>
          </a:p>
        </p:txBody>
      </p:sp>
      <p:sp>
        <p:nvSpPr>
          <p:cNvPr name="TextBox 5" id="5"/>
          <p:cNvSpPr txBox="true"/>
          <p:nvPr/>
        </p:nvSpPr>
        <p:spPr>
          <a:xfrm rot="0">
            <a:off x="2716029" y="2228440"/>
            <a:ext cx="1204169" cy="1087510"/>
          </a:xfrm>
          <a:prstGeom prst="rect">
            <a:avLst/>
          </a:prstGeom>
        </p:spPr>
        <p:txBody>
          <a:bodyPr anchor="t" rtlCol="false" tIns="0" lIns="0" bIns="0" rIns="0">
            <a:spAutoFit/>
          </a:bodyPr>
          <a:lstStyle/>
          <a:p>
            <a:pPr algn="ctr">
              <a:lnSpc>
                <a:spcPts val="8889"/>
              </a:lnSpc>
            </a:pPr>
            <a:r>
              <a:rPr lang="en-US" sz="6349">
                <a:solidFill>
                  <a:srgbClr val="3F3D3E"/>
                </a:solidFill>
                <a:latin typeface="Alexandria"/>
                <a:ea typeface="Alexandria"/>
                <a:cs typeface="Alexandria"/>
                <a:sym typeface="Alexandria"/>
              </a:rPr>
              <a:t>1.</a:t>
            </a:r>
          </a:p>
        </p:txBody>
      </p:sp>
      <p:sp>
        <p:nvSpPr>
          <p:cNvPr name="TextBox 6" id="6"/>
          <p:cNvSpPr txBox="true"/>
          <p:nvPr/>
        </p:nvSpPr>
        <p:spPr>
          <a:xfrm rot="0">
            <a:off x="4171685" y="4537315"/>
            <a:ext cx="11400286" cy="1145696"/>
          </a:xfrm>
          <a:prstGeom prst="rect">
            <a:avLst/>
          </a:prstGeom>
        </p:spPr>
        <p:txBody>
          <a:bodyPr anchor="t" rtlCol="false" tIns="0" lIns="0" bIns="0" rIns="0">
            <a:spAutoFit/>
          </a:bodyPr>
          <a:lstStyle/>
          <a:p>
            <a:pPr algn="l">
              <a:lnSpc>
                <a:spcPts val="4576"/>
              </a:lnSpc>
              <a:spcBef>
                <a:spcPct val="0"/>
              </a:spcBef>
            </a:pPr>
            <a:r>
              <a:rPr lang="en-US" sz="3268">
                <a:solidFill>
                  <a:srgbClr val="545454"/>
                </a:solidFill>
                <a:latin typeface="Garet"/>
                <a:ea typeface="Garet"/>
                <a:cs typeface="Garet"/>
                <a:sym typeface="Garet"/>
              </a:rPr>
              <a:t>To what extent do screen time and physical activity affect a person's weight?</a:t>
            </a:r>
          </a:p>
        </p:txBody>
      </p:sp>
      <p:sp>
        <p:nvSpPr>
          <p:cNvPr name="TextBox 7" id="7"/>
          <p:cNvSpPr txBox="true"/>
          <p:nvPr/>
        </p:nvSpPr>
        <p:spPr>
          <a:xfrm rot="0">
            <a:off x="2716029" y="4285840"/>
            <a:ext cx="1204169" cy="1087510"/>
          </a:xfrm>
          <a:prstGeom prst="rect">
            <a:avLst/>
          </a:prstGeom>
        </p:spPr>
        <p:txBody>
          <a:bodyPr anchor="t" rtlCol="false" tIns="0" lIns="0" bIns="0" rIns="0">
            <a:spAutoFit/>
          </a:bodyPr>
          <a:lstStyle/>
          <a:p>
            <a:pPr algn="ctr">
              <a:lnSpc>
                <a:spcPts val="8889"/>
              </a:lnSpc>
            </a:pPr>
            <a:r>
              <a:rPr lang="en-US" sz="6349">
                <a:solidFill>
                  <a:srgbClr val="3F3D3E"/>
                </a:solidFill>
                <a:latin typeface="Alexandria"/>
                <a:ea typeface="Alexandria"/>
                <a:cs typeface="Alexandria"/>
                <a:sym typeface="Alexandria"/>
              </a:rPr>
              <a:t>2.</a:t>
            </a:r>
          </a:p>
        </p:txBody>
      </p:sp>
      <p:sp>
        <p:nvSpPr>
          <p:cNvPr name="Freeform 8" id="8"/>
          <p:cNvSpPr/>
          <p:nvPr/>
        </p:nvSpPr>
        <p:spPr>
          <a:xfrm flipH="false" flipV="false" rot="-574333">
            <a:off x="-347707" y="5125923"/>
            <a:ext cx="4840370" cy="6758253"/>
          </a:xfrm>
          <a:custGeom>
            <a:avLst/>
            <a:gdLst/>
            <a:ahLst/>
            <a:cxnLst/>
            <a:rect r="r" b="b" t="t" l="l"/>
            <a:pathLst>
              <a:path h="6758253" w="4840370">
                <a:moveTo>
                  <a:pt x="0" y="0"/>
                </a:moveTo>
                <a:lnTo>
                  <a:pt x="4840370" y="0"/>
                </a:lnTo>
                <a:lnTo>
                  <a:pt x="4840370" y="6758253"/>
                </a:lnTo>
                <a:lnTo>
                  <a:pt x="0" y="675825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9" id="9"/>
          <p:cNvSpPr/>
          <p:nvPr/>
        </p:nvSpPr>
        <p:spPr>
          <a:xfrm>
            <a:off x="4541415" y="9464180"/>
            <a:ext cx="11672841" cy="0"/>
          </a:xfrm>
          <a:prstGeom prst="line">
            <a:avLst/>
          </a:prstGeom>
          <a:ln cap="flat" w="9525">
            <a:solidFill>
              <a:srgbClr val="545454"/>
            </a:solidFill>
            <a:prstDash val="solid"/>
            <a:headEnd type="none" len="sm" w="sm"/>
            <a:tailEnd type="none" len="sm" w="sm"/>
          </a:ln>
        </p:spPr>
      </p:sp>
      <p:sp>
        <p:nvSpPr>
          <p:cNvPr name="TextBox 10" id="10"/>
          <p:cNvSpPr txBox="true"/>
          <p:nvPr/>
        </p:nvSpPr>
        <p:spPr>
          <a:xfrm rot="0">
            <a:off x="16214256" y="9019603"/>
            <a:ext cx="1271574" cy="803430"/>
          </a:xfrm>
          <a:prstGeom prst="rect">
            <a:avLst/>
          </a:prstGeom>
        </p:spPr>
        <p:txBody>
          <a:bodyPr anchor="t" rtlCol="false" tIns="0" lIns="0" bIns="0" rIns="0">
            <a:spAutoFit/>
          </a:bodyPr>
          <a:lstStyle/>
          <a:p>
            <a:pPr algn="ctr">
              <a:lnSpc>
                <a:spcPts val="6641"/>
              </a:lnSpc>
              <a:spcBef>
                <a:spcPct val="0"/>
              </a:spcBef>
            </a:pPr>
            <a:r>
              <a:rPr lang="en-US" b="true" sz="4743">
                <a:solidFill>
                  <a:srgbClr val="545454"/>
                </a:solidFill>
                <a:latin typeface="Garet Bold"/>
                <a:ea typeface="Garet Bold"/>
                <a:cs typeface="Garet Bold"/>
                <a:sym typeface="Garet Bold"/>
              </a:rPr>
              <a:t>02</a:t>
            </a:r>
          </a:p>
        </p:txBody>
      </p:sp>
      <p:sp>
        <p:nvSpPr>
          <p:cNvPr name="TextBox 11" id="11"/>
          <p:cNvSpPr txBox="true"/>
          <p:nvPr/>
        </p:nvSpPr>
        <p:spPr>
          <a:xfrm rot="0">
            <a:off x="2716029" y="6344900"/>
            <a:ext cx="1204169" cy="1087510"/>
          </a:xfrm>
          <a:prstGeom prst="rect">
            <a:avLst/>
          </a:prstGeom>
        </p:spPr>
        <p:txBody>
          <a:bodyPr anchor="t" rtlCol="false" tIns="0" lIns="0" bIns="0" rIns="0">
            <a:spAutoFit/>
          </a:bodyPr>
          <a:lstStyle/>
          <a:p>
            <a:pPr algn="ctr">
              <a:lnSpc>
                <a:spcPts val="8889"/>
              </a:lnSpc>
            </a:pPr>
            <a:r>
              <a:rPr lang="en-US" sz="6349">
                <a:solidFill>
                  <a:srgbClr val="3F3D3E"/>
                </a:solidFill>
                <a:latin typeface="Alexandria"/>
                <a:ea typeface="Alexandria"/>
                <a:cs typeface="Alexandria"/>
                <a:sym typeface="Alexandria"/>
              </a:rPr>
              <a:t>3.</a:t>
            </a:r>
          </a:p>
        </p:txBody>
      </p:sp>
      <p:sp>
        <p:nvSpPr>
          <p:cNvPr name="TextBox 12" id="12"/>
          <p:cNvSpPr txBox="true"/>
          <p:nvPr/>
        </p:nvSpPr>
        <p:spPr>
          <a:xfrm rot="0">
            <a:off x="4171685" y="6402050"/>
            <a:ext cx="11400286" cy="1145696"/>
          </a:xfrm>
          <a:prstGeom prst="rect">
            <a:avLst/>
          </a:prstGeom>
        </p:spPr>
        <p:txBody>
          <a:bodyPr anchor="t" rtlCol="false" tIns="0" lIns="0" bIns="0" rIns="0">
            <a:spAutoFit/>
          </a:bodyPr>
          <a:lstStyle/>
          <a:p>
            <a:pPr algn="l">
              <a:lnSpc>
                <a:spcPts val="4576"/>
              </a:lnSpc>
              <a:spcBef>
                <a:spcPct val="0"/>
              </a:spcBef>
            </a:pPr>
            <a:r>
              <a:rPr lang="en-US" sz="3268">
                <a:solidFill>
                  <a:srgbClr val="545454"/>
                </a:solidFill>
                <a:latin typeface="Garet"/>
                <a:ea typeface="Garet"/>
                <a:cs typeface="Garet"/>
                <a:sym typeface="Garet"/>
              </a:rPr>
              <a:t>Can we predict a person's obesity level based on their lifestyle factors?"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9E9E9"/>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598671" y="-1743170"/>
            <a:ext cx="4840370" cy="6758253"/>
          </a:xfrm>
          <a:custGeom>
            <a:avLst/>
            <a:gdLst/>
            <a:ahLst/>
            <a:cxnLst/>
            <a:rect r="r" b="b" t="t" l="l"/>
            <a:pathLst>
              <a:path h="6758253" w="4840370">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2146761" y="256254"/>
            <a:ext cx="13994477" cy="1392492"/>
          </a:xfrm>
          <a:prstGeom prst="rect">
            <a:avLst/>
          </a:prstGeom>
        </p:spPr>
        <p:txBody>
          <a:bodyPr anchor="t" rtlCol="false" tIns="0" lIns="0" bIns="0" rIns="0">
            <a:spAutoFit/>
          </a:bodyPr>
          <a:lstStyle/>
          <a:p>
            <a:pPr algn="ctr">
              <a:lnSpc>
                <a:spcPts val="11448"/>
              </a:lnSpc>
            </a:pPr>
            <a:r>
              <a:rPr lang="en-US" b="true" sz="8177">
                <a:solidFill>
                  <a:srgbClr val="3F3D3E"/>
                </a:solidFill>
                <a:latin typeface="Alexandria Bold"/>
                <a:ea typeface="Alexandria Bold"/>
                <a:cs typeface="Alexandria Bold"/>
                <a:sym typeface="Alexandria Bold"/>
              </a:rPr>
              <a:t>RESEARCH QUESTIONS 1</a:t>
            </a:r>
          </a:p>
        </p:txBody>
      </p:sp>
      <p:sp>
        <p:nvSpPr>
          <p:cNvPr name="TextBox 4" id="4"/>
          <p:cNvSpPr txBox="true"/>
          <p:nvPr/>
        </p:nvSpPr>
        <p:spPr>
          <a:xfrm rot="0">
            <a:off x="2938984" y="1829814"/>
            <a:ext cx="14546846" cy="5793896"/>
          </a:xfrm>
          <a:prstGeom prst="rect">
            <a:avLst/>
          </a:prstGeom>
        </p:spPr>
        <p:txBody>
          <a:bodyPr anchor="t" rtlCol="false" tIns="0" lIns="0" bIns="0" rIns="0">
            <a:spAutoFit/>
          </a:bodyPr>
          <a:lstStyle/>
          <a:p>
            <a:pPr algn="l">
              <a:lnSpc>
                <a:spcPts val="4576"/>
              </a:lnSpc>
            </a:pPr>
            <a:r>
              <a:rPr lang="en-US" sz="3268">
                <a:solidFill>
                  <a:srgbClr val="545454"/>
                </a:solidFill>
                <a:latin typeface="Garet"/>
                <a:ea typeface="Garet"/>
                <a:cs typeface="Garet"/>
                <a:sym typeface="Garet"/>
              </a:rPr>
              <a:t>In order to conduct a comprehensive analysis of obesity and the lifestyle factors that contribute to it, we used the data to formulate three primary study questions. The first research subject examines the relationship between an individual's risk of obesity and their drinking and smoking behaviors. For this study, we focus on the variables that represent the frequency of smoking and alcohol consumption. We use statistical techniques and graphical tools to examine the link between these behavioral traits and obesity levels in order to determine whether substance-related behaviors can be significant predictors of obesity.</a:t>
            </a:r>
          </a:p>
        </p:txBody>
      </p:sp>
      <p:sp>
        <p:nvSpPr>
          <p:cNvPr name="TextBox 5" id="5"/>
          <p:cNvSpPr txBox="true"/>
          <p:nvPr/>
        </p:nvSpPr>
        <p:spPr>
          <a:xfrm rot="0">
            <a:off x="3253283" y="7804777"/>
            <a:ext cx="13918249" cy="564671"/>
          </a:xfrm>
          <a:prstGeom prst="rect">
            <a:avLst/>
          </a:prstGeom>
        </p:spPr>
        <p:txBody>
          <a:bodyPr anchor="t" rtlCol="false" tIns="0" lIns="0" bIns="0" rIns="0">
            <a:spAutoFit/>
          </a:bodyPr>
          <a:lstStyle/>
          <a:p>
            <a:pPr algn="l">
              <a:lnSpc>
                <a:spcPts val="4576"/>
              </a:lnSpc>
            </a:pPr>
            <a:r>
              <a:rPr lang="en-US" sz="3268">
                <a:solidFill>
                  <a:srgbClr val="545454"/>
                </a:solidFill>
                <a:latin typeface="Garet"/>
                <a:ea typeface="Garet"/>
                <a:cs typeface="Garet"/>
                <a:sym typeface="Garet"/>
              </a:rPr>
              <a:t>We used linear regression and random forest to analysis</a:t>
            </a:r>
          </a:p>
        </p:txBody>
      </p:sp>
      <p:sp>
        <p:nvSpPr>
          <p:cNvPr name="Freeform 6" id="6"/>
          <p:cNvSpPr/>
          <p:nvPr/>
        </p:nvSpPr>
        <p:spPr>
          <a:xfrm flipH="false" flipV="false" rot="-574333">
            <a:off x="-598671" y="5498906"/>
            <a:ext cx="4840370" cy="6758253"/>
          </a:xfrm>
          <a:custGeom>
            <a:avLst/>
            <a:gdLst/>
            <a:ahLst/>
            <a:cxnLst/>
            <a:rect r="r" b="b" t="t" l="l"/>
            <a:pathLst>
              <a:path h="6758253" w="4840370">
                <a:moveTo>
                  <a:pt x="0" y="0"/>
                </a:moveTo>
                <a:lnTo>
                  <a:pt x="4840370" y="0"/>
                </a:lnTo>
                <a:lnTo>
                  <a:pt x="4840370" y="6758253"/>
                </a:lnTo>
                <a:lnTo>
                  <a:pt x="0" y="675825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7" id="7"/>
          <p:cNvSpPr/>
          <p:nvPr/>
        </p:nvSpPr>
        <p:spPr>
          <a:xfrm>
            <a:off x="4541415" y="9464180"/>
            <a:ext cx="11672841" cy="0"/>
          </a:xfrm>
          <a:prstGeom prst="line">
            <a:avLst/>
          </a:prstGeom>
          <a:ln cap="flat" w="9525">
            <a:solidFill>
              <a:srgbClr val="545454"/>
            </a:solidFill>
            <a:prstDash val="solid"/>
            <a:headEnd type="none" len="sm" w="sm"/>
            <a:tailEnd type="none" len="sm" w="sm"/>
          </a:ln>
        </p:spPr>
      </p:sp>
      <p:sp>
        <p:nvSpPr>
          <p:cNvPr name="TextBox 8" id="8"/>
          <p:cNvSpPr txBox="true"/>
          <p:nvPr/>
        </p:nvSpPr>
        <p:spPr>
          <a:xfrm rot="0">
            <a:off x="16214256" y="9019603"/>
            <a:ext cx="1271574" cy="803430"/>
          </a:xfrm>
          <a:prstGeom prst="rect">
            <a:avLst/>
          </a:prstGeom>
        </p:spPr>
        <p:txBody>
          <a:bodyPr anchor="t" rtlCol="false" tIns="0" lIns="0" bIns="0" rIns="0">
            <a:spAutoFit/>
          </a:bodyPr>
          <a:lstStyle/>
          <a:p>
            <a:pPr algn="ctr">
              <a:lnSpc>
                <a:spcPts val="6641"/>
              </a:lnSpc>
              <a:spcBef>
                <a:spcPct val="0"/>
              </a:spcBef>
            </a:pPr>
            <a:r>
              <a:rPr lang="en-US" b="true" sz="4743">
                <a:solidFill>
                  <a:srgbClr val="545454"/>
                </a:solidFill>
                <a:latin typeface="Garet Bold"/>
                <a:ea typeface="Garet Bold"/>
                <a:cs typeface="Garet Bold"/>
                <a:sym typeface="Garet Bold"/>
              </a:rPr>
              <a:t>04</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E9E9E9"/>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598671" y="-1743170"/>
            <a:ext cx="4840370" cy="6758253"/>
          </a:xfrm>
          <a:custGeom>
            <a:avLst/>
            <a:gdLst/>
            <a:ahLst/>
            <a:cxnLst/>
            <a:rect r="r" b="b" t="t" l="l"/>
            <a:pathLst>
              <a:path h="6758253" w="4840370">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74333">
            <a:off x="-598671" y="5498906"/>
            <a:ext cx="4840370" cy="6758253"/>
          </a:xfrm>
          <a:custGeom>
            <a:avLst/>
            <a:gdLst/>
            <a:ahLst/>
            <a:cxnLst/>
            <a:rect r="r" b="b" t="t" l="l"/>
            <a:pathLst>
              <a:path h="6758253" w="4840370">
                <a:moveTo>
                  <a:pt x="0" y="0"/>
                </a:moveTo>
                <a:lnTo>
                  <a:pt x="4840370" y="0"/>
                </a:lnTo>
                <a:lnTo>
                  <a:pt x="4840370" y="6758253"/>
                </a:lnTo>
                <a:lnTo>
                  <a:pt x="0" y="675825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380247" y="3433122"/>
            <a:ext cx="5666814" cy="4565171"/>
            <a:chOff x="0" y="0"/>
            <a:chExt cx="912408" cy="735033"/>
          </a:xfrm>
        </p:grpSpPr>
        <p:sp>
          <p:nvSpPr>
            <p:cNvPr name="Freeform 5" id="5"/>
            <p:cNvSpPr/>
            <p:nvPr/>
          </p:nvSpPr>
          <p:spPr>
            <a:xfrm flipH="false" flipV="false" rot="0">
              <a:off x="0" y="0"/>
              <a:ext cx="912408" cy="735033"/>
            </a:xfrm>
            <a:custGeom>
              <a:avLst/>
              <a:gdLst/>
              <a:ahLst/>
              <a:cxnLst/>
              <a:rect r="r" b="b" t="t" l="l"/>
              <a:pathLst>
                <a:path h="735033" w="912408">
                  <a:moveTo>
                    <a:pt x="0" y="0"/>
                  </a:moveTo>
                  <a:lnTo>
                    <a:pt x="912408" y="0"/>
                  </a:lnTo>
                  <a:lnTo>
                    <a:pt x="912408" y="735033"/>
                  </a:lnTo>
                  <a:lnTo>
                    <a:pt x="0" y="735033"/>
                  </a:lnTo>
                  <a:close/>
                </a:path>
              </a:pathLst>
            </a:custGeom>
            <a:blipFill>
              <a:blip r:embed="rId6"/>
              <a:stretch>
                <a:fillRect l="0" t="0" r="-28450" b="0"/>
              </a:stretch>
            </a:blipFill>
          </p:spPr>
        </p:sp>
      </p:grpSp>
      <p:sp>
        <p:nvSpPr>
          <p:cNvPr name="AutoShape 6" id="6"/>
          <p:cNvSpPr/>
          <p:nvPr/>
        </p:nvSpPr>
        <p:spPr>
          <a:xfrm>
            <a:off x="4541415" y="9464180"/>
            <a:ext cx="11672841" cy="0"/>
          </a:xfrm>
          <a:prstGeom prst="line">
            <a:avLst/>
          </a:prstGeom>
          <a:ln cap="flat" w="9525">
            <a:solidFill>
              <a:srgbClr val="545454"/>
            </a:solidFill>
            <a:prstDash val="solid"/>
            <a:headEnd type="none" len="sm" w="sm"/>
            <a:tailEnd type="none" len="sm" w="sm"/>
          </a:ln>
        </p:spPr>
      </p:sp>
      <p:grpSp>
        <p:nvGrpSpPr>
          <p:cNvPr name="Group 7" id="7"/>
          <p:cNvGrpSpPr/>
          <p:nvPr/>
        </p:nvGrpSpPr>
        <p:grpSpPr>
          <a:xfrm rot="0">
            <a:off x="6269554" y="3433122"/>
            <a:ext cx="5679775" cy="4565171"/>
            <a:chOff x="0" y="0"/>
            <a:chExt cx="879946" cy="707264"/>
          </a:xfrm>
        </p:grpSpPr>
        <p:sp>
          <p:nvSpPr>
            <p:cNvPr name="Freeform 8" id="8"/>
            <p:cNvSpPr/>
            <p:nvPr/>
          </p:nvSpPr>
          <p:spPr>
            <a:xfrm flipH="false" flipV="false" rot="0">
              <a:off x="0" y="0"/>
              <a:ext cx="879946" cy="707264"/>
            </a:xfrm>
            <a:custGeom>
              <a:avLst/>
              <a:gdLst/>
              <a:ahLst/>
              <a:cxnLst/>
              <a:rect r="r" b="b" t="t" l="l"/>
              <a:pathLst>
                <a:path h="707264" w="879946">
                  <a:moveTo>
                    <a:pt x="0" y="0"/>
                  </a:moveTo>
                  <a:lnTo>
                    <a:pt x="879946" y="0"/>
                  </a:lnTo>
                  <a:lnTo>
                    <a:pt x="879946" y="707264"/>
                  </a:lnTo>
                  <a:lnTo>
                    <a:pt x="0" y="707264"/>
                  </a:lnTo>
                  <a:close/>
                </a:path>
              </a:pathLst>
            </a:custGeom>
            <a:blipFill>
              <a:blip r:embed="rId7"/>
              <a:stretch>
                <a:fillRect l="0" t="-154" r="0" b="-154"/>
              </a:stretch>
            </a:blipFill>
          </p:spPr>
        </p:sp>
      </p:grpSp>
      <p:grpSp>
        <p:nvGrpSpPr>
          <p:cNvPr name="Group 9" id="9"/>
          <p:cNvGrpSpPr/>
          <p:nvPr/>
        </p:nvGrpSpPr>
        <p:grpSpPr>
          <a:xfrm rot="0">
            <a:off x="12158862" y="3433122"/>
            <a:ext cx="5889308" cy="4565171"/>
            <a:chOff x="0" y="0"/>
            <a:chExt cx="912408" cy="707264"/>
          </a:xfrm>
        </p:grpSpPr>
        <p:sp>
          <p:nvSpPr>
            <p:cNvPr name="Freeform 10" id="10"/>
            <p:cNvSpPr/>
            <p:nvPr/>
          </p:nvSpPr>
          <p:spPr>
            <a:xfrm flipH="false" flipV="false" rot="0">
              <a:off x="0" y="0"/>
              <a:ext cx="912408" cy="707264"/>
            </a:xfrm>
            <a:custGeom>
              <a:avLst/>
              <a:gdLst/>
              <a:ahLst/>
              <a:cxnLst/>
              <a:rect r="r" b="b" t="t" l="l"/>
              <a:pathLst>
                <a:path h="707264" w="912408">
                  <a:moveTo>
                    <a:pt x="0" y="0"/>
                  </a:moveTo>
                  <a:lnTo>
                    <a:pt x="912408" y="0"/>
                  </a:lnTo>
                  <a:lnTo>
                    <a:pt x="912408" y="707264"/>
                  </a:lnTo>
                  <a:lnTo>
                    <a:pt x="0" y="707264"/>
                  </a:lnTo>
                  <a:close/>
                </a:path>
              </a:pathLst>
            </a:custGeom>
            <a:blipFill>
              <a:blip r:embed="rId8"/>
              <a:stretch>
                <a:fillRect l="0" t="0" r="0" b="-38761"/>
              </a:stretch>
            </a:blipFill>
          </p:spPr>
        </p:sp>
      </p:grpSp>
      <p:sp>
        <p:nvSpPr>
          <p:cNvPr name="TextBox 11" id="11"/>
          <p:cNvSpPr txBox="true"/>
          <p:nvPr/>
        </p:nvSpPr>
        <p:spPr>
          <a:xfrm rot="0">
            <a:off x="4506857" y="876300"/>
            <a:ext cx="9205169" cy="1392492"/>
          </a:xfrm>
          <a:prstGeom prst="rect">
            <a:avLst/>
          </a:prstGeom>
        </p:spPr>
        <p:txBody>
          <a:bodyPr anchor="t" rtlCol="false" tIns="0" lIns="0" bIns="0" rIns="0">
            <a:spAutoFit/>
          </a:bodyPr>
          <a:lstStyle/>
          <a:p>
            <a:pPr algn="ctr">
              <a:lnSpc>
                <a:spcPts val="11448"/>
              </a:lnSpc>
            </a:pPr>
            <a:r>
              <a:rPr lang="en-US" b="true" sz="8177">
                <a:solidFill>
                  <a:srgbClr val="3F3D3E"/>
                </a:solidFill>
                <a:latin typeface="Alexandria Bold"/>
                <a:ea typeface="Alexandria Bold"/>
                <a:cs typeface="Alexandria Bold"/>
                <a:sym typeface="Alexandria Bold"/>
              </a:rPr>
              <a:t>SCREEN SHOTS </a:t>
            </a:r>
          </a:p>
        </p:txBody>
      </p:sp>
      <p:sp>
        <p:nvSpPr>
          <p:cNvPr name="TextBox 12" id="12"/>
          <p:cNvSpPr txBox="true"/>
          <p:nvPr/>
        </p:nvSpPr>
        <p:spPr>
          <a:xfrm rot="0">
            <a:off x="16214256" y="9019603"/>
            <a:ext cx="1271574" cy="803430"/>
          </a:xfrm>
          <a:prstGeom prst="rect">
            <a:avLst/>
          </a:prstGeom>
        </p:spPr>
        <p:txBody>
          <a:bodyPr anchor="t" rtlCol="false" tIns="0" lIns="0" bIns="0" rIns="0">
            <a:spAutoFit/>
          </a:bodyPr>
          <a:lstStyle/>
          <a:p>
            <a:pPr algn="ctr">
              <a:lnSpc>
                <a:spcPts val="6641"/>
              </a:lnSpc>
              <a:spcBef>
                <a:spcPct val="0"/>
              </a:spcBef>
            </a:pPr>
            <a:r>
              <a:rPr lang="en-US" b="true" sz="4743">
                <a:solidFill>
                  <a:srgbClr val="545454"/>
                </a:solidFill>
                <a:latin typeface="Garet Bold"/>
                <a:ea typeface="Garet Bold"/>
                <a:cs typeface="Garet Bold"/>
                <a:sym typeface="Garet Bold"/>
              </a:rPr>
              <a:t>03</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E9E9E9"/>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598671" y="-1743170"/>
            <a:ext cx="4840370" cy="6758253"/>
          </a:xfrm>
          <a:custGeom>
            <a:avLst/>
            <a:gdLst/>
            <a:ahLst/>
            <a:cxnLst/>
            <a:rect r="r" b="b" t="t" l="l"/>
            <a:pathLst>
              <a:path h="6758253" w="4840370">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2146761" y="256254"/>
            <a:ext cx="13994477" cy="1392492"/>
          </a:xfrm>
          <a:prstGeom prst="rect">
            <a:avLst/>
          </a:prstGeom>
        </p:spPr>
        <p:txBody>
          <a:bodyPr anchor="t" rtlCol="false" tIns="0" lIns="0" bIns="0" rIns="0">
            <a:spAutoFit/>
          </a:bodyPr>
          <a:lstStyle/>
          <a:p>
            <a:pPr algn="ctr">
              <a:lnSpc>
                <a:spcPts val="11448"/>
              </a:lnSpc>
            </a:pPr>
            <a:r>
              <a:rPr lang="en-US" b="true" sz="8177">
                <a:solidFill>
                  <a:srgbClr val="3F3D3E"/>
                </a:solidFill>
                <a:latin typeface="Alexandria Bold"/>
                <a:ea typeface="Alexandria Bold"/>
                <a:cs typeface="Alexandria Bold"/>
                <a:sym typeface="Alexandria Bold"/>
              </a:rPr>
              <a:t>RESEARCH QUESTIONS 2</a:t>
            </a:r>
          </a:p>
        </p:txBody>
      </p:sp>
      <p:sp>
        <p:nvSpPr>
          <p:cNvPr name="TextBox 4" id="4"/>
          <p:cNvSpPr txBox="true"/>
          <p:nvPr/>
        </p:nvSpPr>
        <p:spPr>
          <a:xfrm rot="0">
            <a:off x="2938984" y="1922702"/>
            <a:ext cx="14546846" cy="4631846"/>
          </a:xfrm>
          <a:prstGeom prst="rect">
            <a:avLst/>
          </a:prstGeom>
        </p:spPr>
        <p:txBody>
          <a:bodyPr anchor="t" rtlCol="false" tIns="0" lIns="0" bIns="0" rIns="0">
            <a:spAutoFit/>
          </a:bodyPr>
          <a:lstStyle/>
          <a:p>
            <a:pPr algn="l">
              <a:lnSpc>
                <a:spcPts val="4576"/>
              </a:lnSpc>
            </a:pPr>
            <a:r>
              <a:rPr lang="en-US" sz="3268">
                <a:solidFill>
                  <a:srgbClr val="545454"/>
                </a:solidFill>
                <a:latin typeface="Garet"/>
                <a:ea typeface="Garet"/>
                <a:cs typeface="Garet"/>
                <a:sym typeface="Garet"/>
              </a:rPr>
              <a:t>The second question focuses on how exercise and screen time affect a person's weight. We utilize the dataset's attributes that characterize the frequency of daily mobile screen usage and physical exercise. These variables are analyzed and shown to understand their respective impacts on weight categories and BMI. Our objective is to determine whether excessive screen time, a symptom of sedentary behavior, increases the prevalence of obesity and has a negative relationship with physical fitness.</a:t>
            </a:r>
          </a:p>
        </p:txBody>
      </p:sp>
      <p:sp>
        <p:nvSpPr>
          <p:cNvPr name="TextBox 5" id="5"/>
          <p:cNvSpPr txBox="true"/>
          <p:nvPr/>
        </p:nvSpPr>
        <p:spPr>
          <a:xfrm rot="0">
            <a:off x="3253283" y="7804777"/>
            <a:ext cx="13918249" cy="564671"/>
          </a:xfrm>
          <a:prstGeom prst="rect">
            <a:avLst/>
          </a:prstGeom>
        </p:spPr>
        <p:txBody>
          <a:bodyPr anchor="t" rtlCol="false" tIns="0" lIns="0" bIns="0" rIns="0">
            <a:spAutoFit/>
          </a:bodyPr>
          <a:lstStyle/>
          <a:p>
            <a:pPr algn="l">
              <a:lnSpc>
                <a:spcPts val="4576"/>
              </a:lnSpc>
            </a:pPr>
            <a:r>
              <a:rPr lang="en-US" sz="3268">
                <a:solidFill>
                  <a:srgbClr val="545454"/>
                </a:solidFill>
                <a:latin typeface="Garet"/>
                <a:ea typeface="Garet"/>
                <a:cs typeface="Garet"/>
                <a:sym typeface="Garet"/>
              </a:rPr>
              <a:t>We have used visualization and correlation matrix</a:t>
            </a:r>
          </a:p>
        </p:txBody>
      </p:sp>
      <p:sp>
        <p:nvSpPr>
          <p:cNvPr name="Freeform 6" id="6"/>
          <p:cNvSpPr/>
          <p:nvPr/>
        </p:nvSpPr>
        <p:spPr>
          <a:xfrm flipH="false" flipV="false" rot="-574333">
            <a:off x="-598671" y="5498906"/>
            <a:ext cx="4840370" cy="6758253"/>
          </a:xfrm>
          <a:custGeom>
            <a:avLst/>
            <a:gdLst/>
            <a:ahLst/>
            <a:cxnLst/>
            <a:rect r="r" b="b" t="t" l="l"/>
            <a:pathLst>
              <a:path h="6758253" w="4840370">
                <a:moveTo>
                  <a:pt x="0" y="0"/>
                </a:moveTo>
                <a:lnTo>
                  <a:pt x="4840370" y="0"/>
                </a:lnTo>
                <a:lnTo>
                  <a:pt x="4840370" y="6758253"/>
                </a:lnTo>
                <a:lnTo>
                  <a:pt x="0" y="675825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7" id="7"/>
          <p:cNvSpPr/>
          <p:nvPr/>
        </p:nvSpPr>
        <p:spPr>
          <a:xfrm>
            <a:off x="4541415" y="9464180"/>
            <a:ext cx="11672841" cy="0"/>
          </a:xfrm>
          <a:prstGeom prst="line">
            <a:avLst/>
          </a:prstGeom>
          <a:ln cap="flat" w="9525">
            <a:solidFill>
              <a:srgbClr val="545454"/>
            </a:solidFill>
            <a:prstDash val="solid"/>
            <a:headEnd type="none" len="sm" w="sm"/>
            <a:tailEnd type="none" len="sm" w="sm"/>
          </a:ln>
        </p:spPr>
      </p:sp>
      <p:sp>
        <p:nvSpPr>
          <p:cNvPr name="TextBox 8" id="8"/>
          <p:cNvSpPr txBox="true"/>
          <p:nvPr/>
        </p:nvSpPr>
        <p:spPr>
          <a:xfrm rot="0">
            <a:off x="16214256" y="9019603"/>
            <a:ext cx="1271574" cy="803430"/>
          </a:xfrm>
          <a:prstGeom prst="rect">
            <a:avLst/>
          </a:prstGeom>
        </p:spPr>
        <p:txBody>
          <a:bodyPr anchor="t" rtlCol="false" tIns="0" lIns="0" bIns="0" rIns="0">
            <a:spAutoFit/>
          </a:bodyPr>
          <a:lstStyle/>
          <a:p>
            <a:pPr algn="ctr">
              <a:lnSpc>
                <a:spcPts val="6641"/>
              </a:lnSpc>
              <a:spcBef>
                <a:spcPct val="0"/>
              </a:spcBef>
            </a:pPr>
            <a:r>
              <a:rPr lang="en-US" b="true" sz="4743">
                <a:solidFill>
                  <a:srgbClr val="545454"/>
                </a:solidFill>
                <a:latin typeface="Garet Bold"/>
                <a:ea typeface="Garet Bold"/>
                <a:cs typeface="Garet Bold"/>
                <a:sym typeface="Garet Bold"/>
              </a:rPr>
              <a:t>04</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E9E9E9"/>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598671" y="-1743170"/>
            <a:ext cx="4840370" cy="6758253"/>
          </a:xfrm>
          <a:custGeom>
            <a:avLst/>
            <a:gdLst/>
            <a:ahLst/>
            <a:cxnLst/>
            <a:rect r="r" b="b" t="t" l="l"/>
            <a:pathLst>
              <a:path h="6758253" w="4840370">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74333">
            <a:off x="-598671" y="5498906"/>
            <a:ext cx="4840370" cy="6758253"/>
          </a:xfrm>
          <a:custGeom>
            <a:avLst/>
            <a:gdLst/>
            <a:ahLst/>
            <a:cxnLst/>
            <a:rect r="r" b="b" t="t" l="l"/>
            <a:pathLst>
              <a:path h="6758253" w="4840370">
                <a:moveTo>
                  <a:pt x="0" y="0"/>
                </a:moveTo>
                <a:lnTo>
                  <a:pt x="4840370" y="0"/>
                </a:lnTo>
                <a:lnTo>
                  <a:pt x="4840370" y="6758253"/>
                </a:lnTo>
                <a:lnTo>
                  <a:pt x="0" y="675825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380247" y="3433122"/>
            <a:ext cx="5666814" cy="4565171"/>
            <a:chOff x="0" y="0"/>
            <a:chExt cx="912408" cy="735033"/>
          </a:xfrm>
        </p:grpSpPr>
        <p:sp>
          <p:nvSpPr>
            <p:cNvPr name="Freeform 5" id="5"/>
            <p:cNvSpPr/>
            <p:nvPr/>
          </p:nvSpPr>
          <p:spPr>
            <a:xfrm flipH="false" flipV="false" rot="0">
              <a:off x="0" y="0"/>
              <a:ext cx="912408" cy="735033"/>
            </a:xfrm>
            <a:custGeom>
              <a:avLst/>
              <a:gdLst/>
              <a:ahLst/>
              <a:cxnLst/>
              <a:rect r="r" b="b" t="t" l="l"/>
              <a:pathLst>
                <a:path h="735033" w="912408">
                  <a:moveTo>
                    <a:pt x="0" y="0"/>
                  </a:moveTo>
                  <a:lnTo>
                    <a:pt x="912408" y="0"/>
                  </a:lnTo>
                  <a:lnTo>
                    <a:pt x="912408" y="735033"/>
                  </a:lnTo>
                  <a:lnTo>
                    <a:pt x="0" y="735033"/>
                  </a:lnTo>
                  <a:close/>
                </a:path>
              </a:pathLst>
            </a:custGeom>
            <a:blipFill>
              <a:blip r:embed="rId6"/>
              <a:stretch>
                <a:fillRect l="0" t="0" r="0" b="-8925"/>
              </a:stretch>
            </a:blipFill>
          </p:spPr>
        </p:sp>
      </p:grpSp>
      <p:sp>
        <p:nvSpPr>
          <p:cNvPr name="AutoShape 6" id="6"/>
          <p:cNvSpPr/>
          <p:nvPr/>
        </p:nvSpPr>
        <p:spPr>
          <a:xfrm>
            <a:off x="4541415" y="9464180"/>
            <a:ext cx="11672841" cy="0"/>
          </a:xfrm>
          <a:prstGeom prst="line">
            <a:avLst/>
          </a:prstGeom>
          <a:ln cap="flat" w="9525">
            <a:solidFill>
              <a:srgbClr val="545454"/>
            </a:solidFill>
            <a:prstDash val="solid"/>
            <a:headEnd type="none" len="sm" w="sm"/>
            <a:tailEnd type="none" len="sm" w="sm"/>
          </a:ln>
        </p:spPr>
      </p:sp>
      <p:grpSp>
        <p:nvGrpSpPr>
          <p:cNvPr name="Group 7" id="7"/>
          <p:cNvGrpSpPr/>
          <p:nvPr/>
        </p:nvGrpSpPr>
        <p:grpSpPr>
          <a:xfrm rot="0">
            <a:off x="6269554" y="3433122"/>
            <a:ext cx="5679775" cy="4565171"/>
            <a:chOff x="0" y="0"/>
            <a:chExt cx="879946" cy="707264"/>
          </a:xfrm>
        </p:grpSpPr>
        <p:sp>
          <p:nvSpPr>
            <p:cNvPr name="Freeform 8" id="8"/>
            <p:cNvSpPr/>
            <p:nvPr/>
          </p:nvSpPr>
          <p:spPr>
            <a:xfrm flipH="false" flipV="false" rot="0">
              <a:off x="0" y="0"/>
              <a:ext cx="879946" cy="707264"/>
            </a:xfrm>
            <a:custGeom>
              <a:avLst/>
              <a:gdLst/>
              <a:ahLst/>
              <a:cxnLst/>
              <a:rect r="r" b="b" t="t" l="l"/>
              <a:pathLst>
                <a:path h="707264" w="879946">
                  <a:moveTo>
                    <a:pt x="0" y="0"/>
                  </a:moveTo>
                  <a:lnTo>
                    <a:pt x="879946" y="0"/>
                  </a:lnTo>
                  <a:lnTo>
                    <a:pt x="879946" y="707264"/>
                  </a:lnTo>
                  <a:lnTo>
                    <a:pt x="0" y="707264"/>
                  </a:lnTo>
                  <a:close/>
                </a:path>
              </a:pathLst>
            </a:custGeom>
            <a:blipFill>
              <a:blip r:embed="rId7"/>
              <a:stretch>
                <a:fillRect l="0" t="0" r="0" b="-3264"/>
              </a:stretch>
            </a:blipFill>
          </p:spPr>
        </p:sp>
      </p:grpSp>
      <p:grpSp>
        <p:nvGrpSpPr>
          <p:cNvPr name="Group 9" id="9"/>
          <p:cNvGrpSpPr/>
          <p:nvPr/>
        </p:nvGrpSpPr>
        <p:grpSpPr>
          <a:xfrm rot="0">
            <a:off x="12158862" y="3433122"/>
            <a:ext cx="6129138" cy="4565171"/>
            <a:chOff x="0" y="0"/>
            <a:chExt cx="949564" cy="707264"/>
          </a:xfrm>
        </p:grpSpPr>
        <p:sp>
          <p:nvSpPr>
            <p:cNvPr name="Freeform 10" id="10"/>
            <p:cNvSpPr/>
            <p:nvPr/>
          </p:nvSpPr>
          <p:spPr>
            <a:xfrm flipH="false" flipV="false" rot="0">
              <a:off x="0" y="0"/>
              <a:ext cx="949564" cy="707264"/>
            </a:xfrm>
            <a:custGeom>
              <a:avLst/>
              <a:gdLst/>
              <a:ahLst/>
              <a:cxnLst/>
              <a:rect r="r" b="b" t="t" l="l"/>
              <a:pathLst>
                <a:path h="707264" w="949564">
                  <a:moveTo>
                    <a:pt x="0" y="0"/>
                  </a:moveTo>
                  <a:lnTo>
                    <a:pt x="949564" y="0"/>
                  </a:lnTo>
                  <a:lnTo>
                    <a:pt x="949564" y="707264"/>
                  </a:lnTo>
                  <a:lnTo>
                    <a:pt x="0" y="707264"/>
                  </a:lnTo>
                  <a:close/>
                </a:path>
              </a:pathLst>
            </a:custGeom>
            <a:blipFill>
              <a:blip r:embed="rId8"/>
              <a:stretch>
                <a:fillRect l="0" t="0" r="-21653" b="-79506"/>
              </a:stretch>
            </a:blipFill>
          </p:spPr>
        </p:sp>
      </p:grpSp>
      <p:sp>
        <p:nvSpPr>
          <p:cNvPr name="TextBox 11" id="11"/>
          <p:cNvSpPr txBox="true"/>
          <p:nvPr/>
        </p:nvSpPr>
        <p:spPr>
          <a:xfrm rot="0">
            <a:off x="4506857" y="876300"/>
            <a:ext cx="9205169" cy="1392492"/>
          </a:xfrm>
          <a:prstGeom prst="rect">
            <a:avLst/>
          </a:prstGeom>
        </p:spPr>
        <p:txBody>
          <a:bodyPr anchor="t" rtlCol="false" tIns="0" lIns="0" bIns="0" rIns="0">
            <a:spAutoFit/>
          </a:bodyPr>
          <a:lstStyle/>
          <a:p>
            <a:pPr algn="ctr">
              <a:lnSpc>
                <a:spcPts val="11448"/>
              </a:lnSpc>
            </a:pPr>
            <a:r>
              <a:rPr lang="en-US" b="true" sz="8177">
                <a:solidFill>
                  <a:srgbClr val="3F3D3E"/>
                </a:solidFill>
                <a:latin typeface="Alexandria Bold"/>
                <a:ea typeface="Alexandria Bold"/>
                <a:cs typeface="Alexandria Bold"/>
                <a:sym typeface="Alexandria Bold"/>
              </a:rPr>
              <a:t>SCREEN SHOTS </a:t>
            </a:r>
          </a:p>
        </p:txBody>
      </p:sp>
      <p:sp>
        <p:nvSpPr>
          <p:cNvPr name="TextBox 12" id="12"/>
          <p:cNvSpPr txBox="true"/>
          <p:nvPr/>
        </p:nvSpPr>
        <p:spPr>
          <a:xfrm rot="0">
            <a:off x="16214256" y="9019603"/>
            <a:ext cx="1271574" cy="803430"/>
          </a:xfrm>
          <a:prstGeom prst="rect">
            <a:avLst/>
          </a:prstGeom>
        </p:spPr>
        <p:txBody>
          <a:bodyPr anchor="t" rtlCol="false" tIns="0" lIns="0" bIns="0" rIns="0">
            <a:spAutoFit/>
          </a:bodyPr>
          <a:lstStyle/>
          <a:p>
            <a:pPr algn="ctr">
              <a:lnSpc>
                <a:spcPts val="6641"/>
              </a:lnSpc>
              <a:spcBef>
                <a:spcPct val="0"/>
              </a:spcBef>
            </a:pPr>
            <a:r>
              <a:rPr lang="en-US" b="true" sz="4743">
                <a:solidFill>
                  <a:srgbClr val="545454"/>
                </a:solidFill>
                <a:latin typeface="Garet Bold"/>
                <a:ea typeface="Garet Bold"/>
                <a:cs typeface="Garet Bold"/>
                <a:sym typeface="Garet Bold"/>
              </a:rPr>
              <a:t>03</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E9E9E9"/>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598671" y="-1743170"/>
            <a:ext cx="4840370" cy="6758253"/>
          </a:xfrm>
          <a:custGeom>
            <a:avLst/>
            <a:gdLst/>
            <a:ahLst/>
            <a:cxnLst/>
            <a:rect r="r" b="b" t="t" l="l"/>
            <a:pathLst>
              <a:path h="6758253" w="4840370">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2146761" y="256254"/>
            <a:ext cx="13994477" cy="1392492"/>
          </a:xfrm>
          <a:prstGeom prst="rect">
            <a:avLst/>
          </a:prstGeom>
        </p:spPr>
        <p:txBody>
          <a:bodyPr anchor="t" rtlCol="false" tIns="0" lIns="0" bIns="0" rIns="0">
            <a:spAutoFit/>
          </a:bodyPr>
          <a:lstStyle/>
          <a:p>
            <a:pPr algn="ctr">
              <a:lnSpc>
                <a:spcPts val="11448"/>
              </a:lnSpc>
            </a:pPr>
            <a:r>
              <a:rPr lang="en-US" b="true" sz="8177">
                <a:solidFill>
                  <a:srgbClr val="3F3D3E"/>
                </a:solidFill>
                <a:latin typeface="Alexandria Bold"/>
                <a:ea typeface="Alexandria Bold"/>
                <a:cs typeface="Alexandria Bold"/>
                <a:sym typeface="Alexandria Bold"/>
              </a:rPr>
              <a:t>RESEARCH QUESTIONS 3</a:t>
            </a:r>
          </a:p>
        </p:txBody>
      </p:sp>
      <p:sp>
        <p:nvSpPr>
          <p:cNvPr name="TextBox 4" id="4"/>
          <p:cNvSpPr txBox="true"/>
          <p:nvPr/>
        </p:nvSpPr>
        <p:spPr>
          <a:xfrm rot="0">
            <a:off x="2123872" y="1965213"/>
            <a:ext cx="14040256" cy="5594447"/>
          </a:xfrm>
          <a:prstGeom prst="rect">
            <a:avLst/>
          </a:prstGeom>
        </p:spPr>
        <p:txBody>
          <a:bodyPr anchor="t" rtlCol="false" tIns="0" lIns="0" bIns="0" rIns="0">
            <a:spAutoFit/>
          </a:bodyPr>
          <a:lstStyle/>
          <a:p>
            <a:pPr algn="l">
              <a:lnSpc>
                <a:spcPts val="4417"/>
              </a:lnSpc>
            </a:pPr>
            <a:r>
              <a:rPr lang="en-US" sz="3155">
                <a:solidFill>
                  <a:srgbClr val="545454"/>
                </a:solidFill>
                <a:latin typeface="Garet"/>
                <a:ea typeface="Garet"/>
                <a:cs typeface="Garet"/>
                <a:sym typeface="Garet"/>
              </a:rPr>
              <a:t>Lastly, the final and more general objective of this study is to ascertain how an individual's overall lifestyle choices impact their obesity state. The dataset includes a range of lifestyle traits, including eating habits, activity levels, and behavioral patterns, that are used as input variables for predictive modeling. Our goal is to use machine learning techniques to identify the lifestyle characteristics that are most strongly associated with obesity. By taking a holistic approach, we can extract important information that can be used to develop tailored weight-management programs and targeted public health initiatives.</a:t>
            </a:r>
          </a:p>
        </p:txBody>
      </p:sp>
      <p:sp>
        <p:nvSpPr>
          <p:cNvPr name="TextBox 5" id="5"/>
          <p:cNvSpPr txBox="true"/>
          <p:nvPr/>
        </p:nvSpPr>
        <p:spPr>
          <a:xfrm rot="0">
            <a:off x="3253283" y="7804777"/>
            <a:ext cx="13918249" cy="564671"/>
          </a:xfrm>
          <a:prstGeom prst="rect">
            <a:avLst/>
          </a:prstGeom>
        </p:spPr>
        <p:txBody>
          <a:bodyPr anchor="t" rtlCol="false" tIns="0" lIns="0" bIns="0" rIns="0">
            <a:spAutoFit/>
          </a:bodyPr>
          <a:lstStyle/>
          <a:p>
            <a:pPr algn="l">
              <a:lnSpc>
                <a:spcPts val="4576"/>
              </a:lnSpc>
            </a:pPr>
            <a:r>
              <a:rPr lang="en-US" sz="3268">
                <a:solidFill>
                  <a:srgbClr val="545454"/>
                </a:solidFill>
                <a:latin typeface="Garet"/>
                <a:ea typeface="Garet"/>
                <a:cs typeface="Garet"/>
                <a:sym typeface="Garet"/>
              </a:rPr>
              <a:t>We have used Svms and liner regression </a:t>
            </a:r>
          </a:p>
        </p:txBody>
      </p:sp>
      <p:sp>
        <p:nvSpPr>
          <p:cNvPr name="Freeform 6" id="6"/>
          <p:cNvSpPr/>
          <p:nvPr/>
        </p:nvSpPr>
        <p:spPr>
          <a:xfrm flipH="false" flipV="false" rot="-574333">
            <a:off x="-598671" y="5498906"/>
            <a:ext cx="4840370" cy="6758253"/>
          </a:xfrm>
          <a:custGeom>
            <a:avLst/>
            <a:gdLst/>
            <a:ahLst/>
            <a:cxnLst/>
            <a:rect r="r" b="b" t="t" l="l"/>
            <a:pathLst>
              <a:path h="6758253" w="4840370">
                <a:moveTo>
                  <a:pt x="0" y="0"/>
                </a:moveTo>
                <a:lnTo>
                  <a:pt x="4840370" y="0"/>
                </a:lnTo>
                <a:lnTo>
                  <a:pt x="4840370" y="6758253"/>
                </a:lnTo>
                <a:lnTo>
                  <a:pt x="0" y="675825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7" id="7"/>
          <p:cNvSpPr/>
          <p:nvPr/>
        </p:nvSpPr>
        <p:spPr>
          <a:xfrm>
            <a:off x="4541415" y="9464180"/>
            <a:ext cx="11672841" cy="0"/>
          </a:xfrm>
          <a:prstGeom prst="line">
            <a:avLst/>
          </a:prstGeom>
          <a:ln cap="flat" w="9525">
            <a:solidFill>
              <a:srgbClr val="545454"/>
            </a:solidFill>
            <a:prstDash val="solid"/>
            <a:headEnd type="none" len="sm" w="sm"/>
            <a:tailEnd type="none" len="sm" w="sm"/>
          </a:ln>
        </p:spPr>
      </p:sp>
      <p:sp>
        <p:nvSpPr>
          <p:cNvPr name="TextBox 8" id="8"/>
          <p:cNvSpPr txBox="true"/>
          <p:nvPr/>
        </p:nvSpPr>
        <p:spPr>
          <a:xfrm rot="0">
            <a:off x="16214256" y="9019603"/>
            <a:ext cx="1271574" cy="803430"/>
          </a:xfrm>
          <a:prstGeom prst="rect">
            <a:avLst/>
          </a:prstGeom>
        </p:spPr>
        <p:txBody>
          <a:bodyPr anchor="t" rtlCol="false" tIns="0" lIns="0" bIns="0" rIns="0">
            <a:spAutoFit/>
          </a:bodyPr>
          <a:lstStyle/>
          <a:p>
            <a:pPr algn="ctr">
              <a:lnSpc>
                <a:spcPts val="6641"/>
              </a:lnSpc>
              <a:spcBef>
                <a:spcPct val="0"/>
              </a:spcBef>
            </a:pPr>
            <a:r>
              <a:rPr lang="en-US" b="true" sz="4743">
                <a:solidFill>
                  <a:srgbClr val="545454"/>
                </a:solidFill>
                <a:latin typeface="Garet Bold"/>
                <a:ea typeface="Garet Bold"/>
                <a:cs typeface="Garet Bold"/>
                <a:sym typeface="Garet Bold"/>
              </a:rPr>
              <a:t>04</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E9E9E9"/>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598671" y="-1743170"/>
            <a:ext cx="4840370" cy="6758253"/>
          </a:xfrm>
          <a:custGeom>
            <a:avLst/>
            <a:gdLst/>
            <a:ahLst/>
            <a:cxnLst/>
            <a:rect r="r" b="b" t="t" l="l"/>
            <a:pathLst>
              <a:path h="6758253" w="4840370">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74333">
            <a:off x="-598671" y="5498906"/>
            <a:ext cx="4840370" cy="6758253"/>
          </a:xfrm>
          <a:custGeom>
            <a:avLst/>
            <a:gdLst/>
            <a:ahLst/>
            <a:cxnLst/>
            <a:rect r="r" b="b" t="t" l="l"/>
            <a:pathLst>
              <a:path h="6758253" w="4840370">
                <a:moveTo>
                  <a:pt x="0" y="0"/>
                </a:moveTo>
                <a:lnTo>
                  <a:pt x="4840370" y="0"/>
                </a:lnTo>
                <a:lnTo>
                  <a:pt x="4840370" y="6758253"/>
                </a:lnTo>
                <a:lnTo>
                  <a:pt x="0" y="675825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380247" y="3433122"/>
            <a:ext cx="5666814" cy="4565171"/>
            <a:chOff x="0" y="0"/>
            <a:chExt cx="912408" cy="735033"/>
          </a:xfrm>
        </p:grpSpPr>
        <p:sp>
          <p:nvSpPr>
            <p:cNvPr name="Freeform 5" id="5"/>
            <p:cNvSpPr/>
            <p:nvPr/>
          </p:nvSpPr>
          <p:spPr>
            <a:xfrm flipH="false" flipV="false" rot="0">
              <a:off x="0" y="0"/>
              <a:ext cx="912408" cy="735033"/>
            </a:xfrm>
            <a:custGeom>
              <a:avLst/>
              <a:gdLst/>
              <a:ahLst/>
              <a:cxnLst/>
              <a:rect r="r" b="b" t="t" l="l"/>
              <a:pathLst>
                <a:path h="735033" w="912408">
                  <a:moveTo>
                    <a:pt x="0" y="0"/>
                  </a:moveTo>
                  <a:lnTo>
                    <a:pt x="912408" y="0"/>
                  </a:lnTo>
                  <a:lnTo>
                    <a:pt x="912408" y="735033"/>
                  </a:lnTo>
                  <a:lnTo>
                    <a:pt x="0" y="735033"/>
                  </a:lnTo>
                  <a:close/>
                </a:path>
              </a:pathLst>
            </a:custGeom>
            <a:blipFill>
              <a:blip r:embed="rId6"/>
              <a:stretch>
                <a:fillRect l="-8699" t="0" r="-8699" b="0"/>
              </a:stretch>
            </a:blipFill>
          </p:spPr>
        </p:sp>
      </p:grpSp>
      <p:sp>
        <p:nvSpPr>
          <p:cNvPr name="AutoShape 6" id="6"/>
          <p:cNvSpPr/>
          <p:nvPr/>
        </p:nvSpPr>
        <p:spPr>
          <a:xfrm>
            <a:off x="4541415" y="9464180"/>
            <a:ext cx="11672841" cy="0"/>
          </a:xfrm>
          <a:prstGeom prst="line">
            <a:avLst/>
          </a:prstGeom>
          <a:ln cap="flat" w="9525">
            <a:solidFill>
              <a:srgbClr val="545454"/>
            </a:solidFill>
            <a:prstDash val="solid"/>
            <a:headEnd type="none" len="sm" w="sm"/>
            <a:tailEnd type="none" len="sm" w="sm"/>
          </a:ln>
        </p:spPr>
      </p:sp>
      <p:grpSp>
        <p:nvGrpSpPr>
          <p:cNvPr name="Group 7" id="7"/>
          <p:cNvGrpSpPr/>
          <p:nvPr/>
        </p:nvGrpSpPr>
        <p:grpSpPr>
          <a:xfrm rot="0">
            <a:off x="6269554" y="3433122"/>
            <a:ext cx="5679775" cy="4565171"/>
            <a:chOff x="0" y="0"/>
            <a:chExt cx="879946" cy="707264"/>
          </a:xfrm>
        </p:grpSpPr>
        <p:sp>
          <p:nvSpPr>
            <p:cNvPr name="Freeform 8" id="8"/>
            <p:cNvSpPr/>
            <p:nvPr/>
          </p:nvSpPr>
          <p:spPr>
            <a:xfrm flipH="false" flipV="false" rot="0">
              <a:off x="0" y="0"/>
              <a:ext cx="879946" cy="707264"/>
            </a:xfrm>
            <a:custGeom>
              <a:avLst/>
              <a:gdLst/>
              <a:ahLst/>
              <a:cxnLst/>
              <a:rect r="r" b="b" t="t" l="l"/>
              <a:pathLst>
                <a:path h="707264" w="879946">
                  <a:moveTo>
                    <a:pt x="0" y="0"/>
                  </a:moveTo>
                  <a:lnTo>
                    <a:pt x="879946" y="0"/>
                  </a:lnTo>
                  <a:lnTo>
                    <a:pt x="879946" y="707264"/>
                  </a:lnTo>
                  <a:lnTo>
                    <a:pt x="0" y="707264"/>
                  </a:lnTo>
                  <a:close/>
                </a:path>
              </a:pathLst>
            </a:custGeom>
            <a:blipFill>
              <a:blip r:embed="rId7"/>
              <a:stretch>
                <a:fillRect l="0" t="-6531" r="0" b="-6531"/>
              </a:stretch>
            </a:blipFill>
          </p:spPr>
        </p:sp>
      </p:grpSp>
      <p:grpSp>
        <p:nvGrpSpPr>
          <p:cNvPr name="Group 9" id="9"/>
          <p:cNvGrpSpPr/>
          <p:nvPr/>
        </p:nvGrpSpPr>
        <p:grpSpPr>
          <a:xfrm rot="0">
            <a:off x="12158862" y="3433122"/>
            <a:ext cx="5889308" cy="4565171"/>
            <a:chOff x="0" y="0"/>
            <a:chExt cx="912408" cy="707264"/>
          </a:xfrm>
        </p:grpSpPr>
        <p:sp>
          <p:nvSpPr>
            <p:cNvPr name="Freeform 10" id="10"/>
            <p:cNvSpPr/>
            <p:nvPr/>
          </p:nvSpPr>
          <p:spPr>
            <a:xfrm flipH="false" flipV="false" rot="0">
              <a:off x="0" y="0"/>
              <a:ext cx="912408" cy="707264"/>
            </a:xfrm>
            <a:custGeom>
              <a:avLst/>
              <a:gdLst/>
              <a:ahLst/>
              <a:cxnLst/>
              <a:rect r="r" b="b" t="t" l="l"/>
              <a:pathLst>
                <a:path h="707264" w="912408">
                  <a:moveTo>
                    <a:pt x="0" y="0"/>
                  </a:moveTo>
                  <a:lnTo>
                    <a:pt x="912408" y="0"/>
                  </a:lnTo>
                  <a:lnTo>
                    <a:pt x="912408" y="707264"/>
                  </a:lnTo>
                  <a:lnTo>
                    <a:pt x="0" y="707264"/>
                  </a:lnTo>
                  <a:close/>
                </a:path>
              </a:pathLst>
            </a:custGeom>
            <a:blipFill>
              <a:blip r:embed="rId8"/>
              <a:stretch>
                <a:fillRect l="0" t="-4232" r="0" b="-4232"/>
              </a:stretch>
            </a:blipFill>
          </p:spPr>
        </p:sp>
      </p:grpSp>
      <p:sp>
        <p:nvSpPr>
          <p:cNvPr name="TextBox 11" id="11"/>
          <p:cNvSpPr txBox="true"/>
          <p:nvPr/>
        </p:nvSpPr>
        <p:spPr>
          <a:xfrm rot="0">
            <a:off x="4506857" y="876300"/>
            <a:ext cx="9205169" cy="1392492"/>
          </a:xfrm>
          <a:prstGeom prst="rect">
            <a:avLst/>
          </a:prstGeom>
        </p:spPr>
        <p:txBody>
          <a:bodyPr anchor="t" rtlCol="false" tIns="0" lIns="0" bIns="0" rIns="0">
            <a:spAutoFit/>
          </a:bodyPr>
          <a:lstStyle/>
          <a:p>
            <a:pPr algn="ctr">
              <a:lnSpc>
                <a:spcPts val="11448"/>
              </a:lnSpc>
            </a:pPr>
            <a:r>
              <a:rPr lang="en-US" b="true" sz="8177">
                <a:solidFill>
                  <a:srgbClr val="3F3D3E"/>
                </a:solidFill>
                <a:latin typeface="Alexandria Bold"/>
                <a:ea typeface="Alexandria Bold"/>
                <a:cs typeface="Alexandria Bold"/>
                <a:sym typeface="Alexandria Bold"/>
              </a:rPr>
              <a:t>SCREEN SHOTS </a:t>
            </a:r>
          </a:p>
        </p:txBody>
      </p:sp>
      <p:sp>
        <p:nvSpPr>
          <p:cNvPr name="TextBox 12" id="12"/>
          <p:cNvSpPr txBox="true"/>
          <p:nvPr/>
        </p:nvSpPr>
        <p:spPr>
          <a:xfrm rot="0">
            <a:off x="16214256" y="9019603"/>
            <a:ext cx="1271574" cy="803430"/>
          </a:xfrm>
          <a:prstGeom prst="rect">
            <a:avLst/>
          </a:prstGeom>
        </p:spPr>
        <p:txBody>
          <a:bodyPr anchor="t" rtlCol="false" tIns="0" lIns="0" bIns="0" rIns="0">
            <a:spAutoFit/>
          </a:bodyPr>
          <a:lstStyle/>
          <a:p>
            <a:pPr algn="ctr">
              <a:lnSpc>
                <a:spcPts val="6641"/>
              </a:lnSpc>
              <a:spcBef>
                <a:spcPct val="0"/>
              </a:spcBef>
            </a:pPr>
            <a:r>
              <a:rPr lang="en-US" b="true" sz="4743">
                <a:solidFill>
                  <a:srgbClr val="545454"/>
                </a:solidFill>
                <a:latin typeface="Garet Bold"/>
                <a:ea typeface="Garet Bold"/>
                <a:cs typeface="Garet Bold"/>
                <a:sym typeface="Garet Bold"/>
              </a:rPr>
              <a:t>03</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E9E9E9"/>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598671" y="-1743170"/>
            <a:ext cx="4840370" cy="6758253"/>
          </a:xfrm>
          <a:custGeom>
            <a:avLst/>
            <a:gdLst/>
            <a:ahLst/>
            <a:cxnLst/>
            <a:rect r="r" b="b" t="t" l="l"/>
            <a:pathLst>
              <a:path h="6758253" w="4840370">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4541415" y="1798469"/>
            <a:ext cx="9205169" cy="1392492"/>
          </a:xfrm>
          <a:prstGeom prst="rect">
            <a:avLst/>
          </a:prstGeom>
        </p:spPr>
        <p:txBody>
          <a:bodyPr anchor="t" rtlCol="false" tIns="0" lIns="0" bIns="0" rIns="0">
            <a:spAutoFit/>
          </a:bodyPr>
          <a:lstStyle/>
          <a:p>
            <a:pPr algn="ctr">
              <a:lnSpc>
                <a:spcPts val="11448"/>
              </a:lnSpc>
            </a:pPr>
            <a:r>
              <a:rPr lang="en-US" b="true" sz="8177">
                <a:solidFill>
                  <a:srgbClr val="3F3D3E"/>
                </a:solidFill>
                <a:latin typeface="Alexandria Bold"/>
                <a:ea typeface="Alexandria Bold"/>
                <a:cs typeface="Alexandria Bold"/>
                <a:sym typeface="Alexandria Bold"/>
              </a:rPr>
              <a:t>CONCLUSION</a:t>
            </a:r>
          </a:p>
        </p:txBody>
      </p:sp>
      <p:sp>
        <p:nvSpPr>
          <p:cNvPr name="TextBox 4" id="4"/>
          <p:cNvSpPr txBox="true"/>
          <p:nvPr/>
        </p:nvSpPr>
        <p:spPr>
          <a:xfrm rot="0">
            <a:off x="1947198" y="3123260"/>
            <a:ext cx="14393604" cy="5212871"/>
          </a:xfrm>
          <a:prstGeom prst="rect">
            <a:avLst/>
          </a:prstGeom>
        </p:spPr>
        <p:txBody>
          <a:bodyPr anchor="t" rtlCol="false" tIns="0" lIns="0" bIns="0" rIns="0">
            <a:spAutoFit/>
          </a:bodyPr>
          <a:lstStyle/>
          <a:p>
            <a:pPr algn="ctr">
              <a:lnSpc>
                <a:spcPts val="4576"/>
              </a:lnSpc>
              <a:spcBef>
                <a:spcPct val="0"/>
              </a:spcBef>
            </a:pPr>
            <a:r>
              <a:rPr lang="en-US" sz="3268">
                <a:solidFill>
                  <a:srgbClr val="545454"/>
                </a:solidFill>
                <a:latin typeface="Garet"/>
                <a:ea typeface="Garet"/>
                <a:cs typeface="Garet"/>
                <a:sym typeface="Garet"/>
              </a:rPr>
              <a:t>This experiment shows how machine learning can use behavioral and lifestyle data to accurately predict BMI and identify obesity levels. Combining several markers produces more accurate results, even when individual criteria like screen time or physical exercise have little predictive potential on their own. Using a comprehensive collection of features improved the performance of models like Random Forest and SVM. These results highlight how crucial data-driven methods are for directing focused public health initiatives and individualized obesity prevention plans.</a:t>
            </a:r>
          </a:p>
        </p:txBody>
      </p:sp>
      <p:sp>
        <p:nvSpPr>
          <p:cNvPr name="Freeform 5" id="5"/>
          <p:cNvSpPr/>
          <p:nvPr/>
        </p:nvSpPr>
        <p:spPr>
          <a:xfrm flipH="false" flipV="false" rot="-574333">
            <a:off x="-598671" y="5498906"/>
            <a:ext cx="4840370" cy="6758253"/>
          </a:xfrm>
          <a:custGeom>
            <a:avLst/>
            <a:gdLst/>
            <a:ahLst/>
            <a:cxnLst/>
            <a:rect r="r" b="b" t="t" l="l"/>
            <a:pathLst>
              <a:path h="6758253" w="4840370">
                <a:moveTo>
                  <a:pt x="0" y="0"/>
                </a:moveTo>
                <a:lnTo>
                  <a:pt x="4840370" y="0"/>
                </a:lnTo>
                <a:lnTo>
                  <a:pt x="4840370" y="6758253"/>
                </a:lnTo>
                <a:lnTo>
                  <a:pt x="0" y="675825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6" id="6"/>
          <p:cNvSpPr/>
          <p:nvPr/>
        </p:nvSpPr>
        <p:spPr>
          <a:xfrm>
            <a:off x="4541415" y="9464180"/>
            <a:ext cx="11672841" cy="0"/>
          </a:xfrm>
          <a:prstGeom prst="line">
            <a:avLst/>
          </a:prstGeom>
          <a:ln cap="flat" w="9525">
            <a:solidFill>
              <a:srgbClr val="545454"/>
            </a:solidFill>
            <a:prstDash val="solid"/>
            <a:headEnd type="none" len="sm" w="sm"/>
            <a:tailEnd type="none" len="sm" w="sm"/>
          </a:ln>
        </p:spPr>
      </p:sp>
      <p:sp>
        <p:nvSpPr>
          <p:cNvPr name="TextBox 7" id="7"/>
          <p:cNvSpPr txBox="true"/>
          <p:nvPr/>
        </p:nvSpPr>
        <p:spPr>
          <a:xfrm rot="0">
            <a:off x="16214256" y="9019603"/>
            <a:ext cx="1271574" cy="803430"/>
          </a:xfrm>
          <a:prstGeom prst="rect">
            <a:avLst/>
          </a:prstGeom>
        </p:spPr>
        <p:txBody>
          <a:bodyPr anchor="t" rtlCol="false" tIns="0" lIns="0" bIns="0" rIns="0">
            <a:spAutoFit/>
          </a:bodyPr>
          <a:lstStyle/>
          <a:p>
            <a:pPr algn="ctr">
              <a:lnSpc>
                <a:spcPts val="6641"/>
              </a:lnSpc>
              <a:spcBef>
                <a:spcPct val="0"/>
              </a:spcBef>
            </a:pPr>
            <a:r>
              <a:rPr lang="en-US" b="true" sz="4743">
                <a:solidFill>
                  <a:srgbClr val="545454"/>
                </a:solidFill>
                <a:latin typeface="Garet Bold"/>
                <a:ea typeface="Garet Bold"/>
                <a:cs typeface="Garet Bold"/>
                <a:sym typeface="Garet Bold"/>
              </a:rPr>
              <a:t>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DAGkXn-_9HQ</dc:identifier>
  <dcterms:modified xsi:type="dcterms:W3CDTF">2011-08-01T06:04:30Z</dcterms:modified>
  <cp:revision>1</cp:revision>
  <dc:title>MidTermProject_GroupNumber_11</dc:title>
</cp:coreProperties>
</file>